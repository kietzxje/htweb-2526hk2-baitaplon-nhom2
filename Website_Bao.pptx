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4630400" cy="8229600"/>
  <p:notesSz cx="8229600" cy="14630400"/>
  <p:embeddedFontLst>
    <p:embeddedFont>
      <p:font typeface="MuseoModerno Medium" panose="020B0604020202020204" charset="-93"/>
      <p:regular r:id="rId15"/>
    </p:embeddedFont>
    <p:embeddedFont>
      <p:font typeface="Source Sans 3"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5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9572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txBody>
          <a:bodyPr/>
          <a:lstStyle/>
          <a:p>
            <a:endParaRPr lang="en-US"/>
          </a:p>
        </p:txBody>
      </p:sp>
      <p:sp>
        <p:nvSpPr>
          <p:cNvPr id="3" name="Shape 1"/>
          <p:cNvSpPr/>
          <p:nvPr/>
        </p:nvSpPr>
        <p:spPr>
          <a:xfrm>
            <a:off x="0" y="0"/>
            <a:ext cx="14630400" cy="8229600"/>
          </a:xfrm>
          <a:prstGeom prst="rect">
            <a:avLst/>
          </a:prstGeom>
          <a:solidFill>
            <a:srgbClr val="FFFCF5"/>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https://www.w3schools.com/" TargetMode="External"/><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hyperlink" Target="https://getbootstrap.com/" TargetMode="External"/><Relationship Id="rId4" Type="http://schemas.openxmlformats.org/officeDocument/2006/relationships/hyperlink" Target="https://phaha.vn/phat-hanh-bao-chi"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722483"/>
            <a:ext cx="7556421" cy="1240155"/>
          </a:xfrm>
          <a:prstGeom prst="rect">
            <a:avLst/>
          </a:prstGeom>
          <a:noFill/>
          <a:ln/>
        </p:spPr>
        <p:txBody>
          <a:bodyPr wrap="square" lIns="0" tIns="0" rIns="0" bIns="0" rtlCol="0" anchor="t"/>
          <a:lstStyle/>
          <a:p>
            <a:pPr marL="0" indent="0" algn="ctr">
              <a:lnSpc>
                <a:spcPts val="4850"/>
              </a:lnSpc>
              <a:buNone/>
            </a:pPr>
            <a:r>
              <a:rPr lang="en-US" sz="3900" b="1" dirty="0">
                <a:solidFill>
                  <a:srgbClr val="124E73"/>
                </a:solidFill>
                <a:latin typeface="MuseoModerno Medium" pitchFamily="34" charset="0"/>
                <a:ea typeface="MuseoModerno Medium" pitchFamily="34" charset="-122"/>
                <a:cs typeface="MuseoModerno Medium" pitchFamily="34" charset="-120"/>
              </a:rPr>
              <a:t>Website Giới Thiệu &amp; Đặt Báo Giấy Trực Tuyến</a:t>
            </a:r>
            <a:endParaRPr lang="en-US" sz="3900" b="1" dirty="0"/>
          </a:p>
        </p:txBody>
      </p:sp>
      <p:sp>
        <p:nvSpPr>
          <p:cNvPr id="4" name="Text 1"/>
          <p:cNvSpPr/>
          <p:nvPr/>
        </p:nvSpPr>
        <p:spPr>
          <a:xfrm>
            <a:off x="793790" y="4260294"/>
            <a:ext cx="7556421" cy="635079"/>
          </a:xfrm>
          <a:prstGeom prst="rect">
            <a:avLst/>
          </a:prstGeom>
          <a:noFill/>
          <a:ln/>
        </p:spPr>
        <p:txBody>
          <a:bodyPr wrap="square" lIns="0" tIns="0" rIns="0" bIns="0" rtlCol="0" anchor="t"/>
          <a:lstStyle/>
          <a:p>
            <a:pPr marL="0" indent="0" algn="l">
              <a:lnSpc>
                <a:spcPts val="2500"/>
              </a:lnSpc>
              <a:buNone/>
            </a:pPr>
            <a:r>
              <a:rPr lang="en-US" sz="1700" dirty="0">
                <a:solidFill>
                  <a:srgbClr val="2B4150"/>
                </a:solidFill>
                <a:latin typeface="Source Sans 3" pitchFamily="34" charset="0"/>
                <a:ea typeface="Source Sans 3" pitchFamily="34" charset="-122"/>
                <a:cs typeface="Source Sans 3" pitchFamily="34" charset="-120"/>
              </a:rPr>
              <a:t>Nền tảng thương mại điện tử chuyên biệt dành cho độc giả yêu thích báo giấy truyền thống — kết hợp sự tiện lợi của công nghệ số với trải nghiệm đọc báo đích thực.</a:t>
            </a:r>
            <a:endParaRPr lang="en-US" sz="1700" dirty="0"/>
          </a:p>
        </p:txBody>
      </p:sp>
      <p:sp>
        <p:nvSpPr>
          <p:cNvPr id="5" name="Shape 2"/>
          <p:cNvSpPr/>
          <p:nvPr/>
        </p:nvSpPr>
        <p:spPr>
          <a:xfrm>
            <a:off x="793790" y="5126236"/>
            <a:ext cx="3051810" cy="373142"/>
          </a:xfrm>
          <a:prstGeom prst="roundRect">
            <a:avLst>
              <a:gd name="adj" fmla="val 6383"/>
            </a:avLst>
          </a:prstGeom>
          <a:solidFill>
            <a:srgbClr val="DBE8F0"/>
          </a:solidFill>
          <a:ln/>
        </p:spPr>
        <p:txBody>
          <a:bodyPr/>
          <a:lstStyle/>
          <a:p>
            <a:endParaRPr lang="en-US" b="1"/>
          </a:p>
        </p:txBody>
      </p:sp>
      <p:sp>
        <p:nvSpPr>
          <p:cNvPr id="6" name="Text 3"/>
          <p:cNvSpPr/>
          <p:nvPr/>
        </p:nvSpPr>
        <p:spPr>
          <a:xfrm>
            <a:off x="912852" y="5185767"/>
            <a:ext cx="2813685" cy="254079"/>
          </a:xfrm>
          <a:prstGeom prst="rect">
            <a:avLst/>
          </a:prstGeom>
          <a:noFill/>
          <a:ln/>
        </p:spPr>
        <p:txBody>
          <a:bodyPr wrap="none" lIns="0" tIns="0" rIns="0" bIns="0" rtlCol="0" anchor="t"/>
          <a:lstStyle/>
          <a:p>
            <a:pPr marL="0" indent="0" algn="l">
              <a:lnSpc>
                <a:spcPts val="2000"/>
              </a:lnSpc>
              <a:buNone/>
            </a:pPr>
            <a:r>
              <a:rPr lang="en-US" sz="1250" b="1" dirty="0">
                <a:solidFill>
                  <a:srgbClr val="2B4150"/>
                </a:solidFill>
                <a:latin typeface="Source Sans 3" pitchFamily="34" charset="0"/>
                <a:ea typeface="Source Sans 3" pitchFamily="34" charset="-122"/>
                <a:cs typeface="Source Sans 3" pitchFamily="34" charset="-120"/>
              </a:rPr>
              <a:t>MÔN HỌC: HỆ THỐNG VÀ CÔNG NGHỆ WEB</a:t>
            </a:r>
            <a:endParaRPr lang="en-US" sz="1250" b="1" dirty="0"/>
          </a:p>
        </p:txBody>
      </p:sp>
      <p:sp>
        <p:nvSpPr>
          <p:cNvPr id="7" name="Shape 4"/>
          <p:cNvSpPr/>
          <p:nvPr/>
        </p:nvSpPr>
        <p:spPr>
          <a:xfrm>
            <a:off x="3944779" y="5118616"/>
            <a:ext cx="2813209" cy="388382"/>
          </a:xfrm>
          <a:prstGeom prst="roundRect">
            <a:avLst>
              <a:gd name="adj" fmla="val 6132"/>
            </a:avLst>
          </a:prstGeom>
          <a:noFill/>
          <a:ln w="7620">
            <a:solidFill>
              <a:srgbClr val="325F7B"/>
            </a:solidFill>
            <a:prstDash val="solid"/>
          </a:ln>
        </p:spPr>
        <p:txBody>
          <a:bodyPr/>
          <a:lstStyle/>
          <a:p>
            <a:endParaRPr lang="en-US" b="1"/>
          </a:p>
        </p:txBody>
      </p:sp>
      <p:sp>
        <p:nvSpPr>
          <p:cNvPr id="8" name="Text 5"/>
          <p:cNvSpPr/>
          <p:nvPr/>
        </p:nvSpPr>
        <p:spPr>
          <a:xfrm>
            <a:off x="4071461" y="5185767"/>
            <a:ext cx="2559844" cy="254079"/>
          </a:xfrm>
          <a:prstGeom prst="rect">
            <a:avLst/>
          </a:prstGeom>
          <a:noFill/>
          <a:ln/>
        </p:spPr>
        <p:txBody>
          <a:bodyPr wrap="none" lIns="0" tIns="0" rIns="0" bIns="0" rtlCol="0" anchor="t"/>
          <a:lstStyle/>
          <a:p>
            <a:pPr marL="0" indent="0" algn="l">
              <a:lnSpc>
                <a:spcPts val="2000"/>
              </a:lnSpc>
              <a:buNone/>
            </a:pPr>
            <a:r>
              <a:rPr lang="en-US" sz="1250" b="1" dirty="0">
                <a:solidFill>
                  <a:srgbClr val="325F7B"/>
                </a:solidFill>
                <a:latin typeface="Source Sans 3" pitchFamily="34" charset="0"/>
                <a:ea typeface="Source Sans 3" pitchFamily="34" charset="-122"/>
                <a:cs typeface="Source Sans 3" pitchFamily="34" charset="-120"/>
              </a:rPr>
              <a:t>HTML · CSS · JAVASCRIPT · BOOTSTRAP</a:t>
            </a:r>
            <a:endParaRPr lang="en-US" sz="125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1422797"/>
            <a:ext cx="953453" cy="373142"/>
          </a:xfrm>
          <a:prstGeom prst="roundRect">
            <a:avLst>
              <a:gd name="adj" fmla="val 6383"/>
            </a:avLst>
          </a:prstGeom>
          <a:solidFill>
            <a:srgbClr val="DBE8F0"/>
          </a:solidFill>
          <a:ln/>
        </p:spPr>
        <p:txBody>
          <a:bodyPr/>
          <a:lstStyle/>
          <a:p>
            <a:endParaRPr lang="en-US"/>
          </a:p>
        </p:txBody>
      </p:sp>
      <p:sp>
        <p:nvSpPr>
          <p:cNvPr id="3" name="Text 1"/>
          <p:cNvSpPr/>
          <p:nvPr/>
        </p:nvSpPr>
        <p:spPr>
          <a:xfrm>
            <a:off x="912852" y="1482328"/>
            <a:ext cx="715328" cy="254079"/>
          </a:xfrm>
          <a:prstGeom prst="rect">
            <a:avLst/>
          </a:prstGeom>
          <a:noFill/>
          <a:ln/>
        </p:spPr>
        <p:txBody>
          <a:bodyPr wrap="none" lIns="0" tIns="0" rIns="0" bIns="0" rtlCol="0" anchor="t"/>
          <a:lstStyle/>
          <a:p>
            <a:pPr marL="0" indent="0" algn="l">
              <a:lnSpc>
                <a:spcPts val="2000"/>
              </a:lnSpc>
              <a:buNone/>
            </a:pPr>
            <a:r>
              <a:rPr lang="en-US" sz="1250" b="1" dirty="0">
                <a:solidFill>
                  <a:srgbClr val="2B4150"/>
                </a:solidFill>
                <a:latin typeface="Source Sans 3" pitchFamily="34" charset="0"/>
                <a:ea typeface="Source Sans 3" pitchFamily="34" charset="-122"/>
                <a:cs typeface="Source Sans 3" pitchFamily="34" charset="-120"/>
              </a:rPr>
              <a:t>CHƯƠNG 1</a:t>
            </a:r>
            <a:endParaRPr lang="en-US" sz="1250" b="1" dirty="0"/>
          </a:p>
        </p:txBody>
      </p:sp>
      <p:sp>
        <p:nvSpPr>
          <p:cNvPr id="4" name="Text 2"/>
          <p:cNvSpPr/>
          <p:nvPr/>
        </p:nvSpPr>
        <p:spPr>
          <a:xfrm>
            <a:off x="793790" y="1875234"/>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124E73"/>
                </a:solidFill>
                <a:latin typeface="MuseoModerno Medium" pitchFamily="34" charset="0"/>
                <a:ea typeface="MuseoModerno Medium" pitchFamily="34" charset="-122"/>
                <a:cs typeface="MuseoModerno Medium" pitchFamily="34" charset="-120"/>
              </a:rPr>
              <a:t>Giới Thiệu Đề Tài</a:t>
            </a:r>
            <a:endParaRPr lang="en-US" sz="3900" b="1"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790" y="2792968"/>
            <a:ext cx="496133" cy="496133"/>
          </a:xfrm>
          <a:prstGeom prst="rect">
            <a:avLst/>
          </a:prstGeom>
        </p:spPr>
      </p:pic>
      <p:sp>
        <p:nvSpPr>
          <p:cNvPr id="6" name="Text 3"/>
          <p:cNvSpPr/>
          <p:nvPr/>
        </p:nvSpPr>
        <p:spPr>
          <a:xfrm>
            <a:off x="793790" y="3537109"/>
            <a:ext cx="2535912" cy="310158"/>
          </a:xfrm>
          <a:prstGeom prst="rect">
            <a:avLst/>
          </a:prstGeom>
          <a:noFill/>
          <a:ln/>
        </p:spPr>
        <p:txBody>
          <a:bodyPr wrap="none" lIns="0" tIns="0" rIns="0" bIns="0" rtlCol="0" anchor="t"/>
          <a:lstStyle/>
          <a:p>
            <a:pPr marL="0" indent="0" algn="l">
              <a:lnSpc>
                <a:spcPts val="2400"/>
              </a:lnSpc>
              <a:buNone/>
            </a:pPr>
            <a:r>
              <a:rPr lang="en-US" sz="2100" b="1" dirty="0">
                <a:solidFill>
                  <a:srgbClr val="2B4150"/>
                </a:solidFill>
                <a:latin typeface="MuseoModerno Medium" pitchFamily="34" charset="0"/>
                <a:ea typeface="MuseoModerno Medium" pitchFamily="34" charset="-122"/>
                <a:cs typeface="MuseoModerno Medium" pitchFamily="34" charset="-120"/>
              </a:rPr>
              <a:t>Mục Tiêu Kinh Doanh</a:t>
            </a:r>
            <a:endParaRPr lang="en-US" sz="2100" b="1" dirty="0"/>
          </a:p>
        </p:txBody>
      </p:sp>
      <p:sp>
        <p:nvSpPr>
          <p:cNvPr id="7" name="Text 4"/>
          <p:cNvSpPr/>
          <p:nvPr/>
        </p:nvSpPr>
        <p:spPr>
          <a:xfrm>
            <a:off x="793790" y="3966329"/>
            <a:ext cx="6397347" cy="635079"/>
          </a:xfrm>
          <a:prstGeom prst="rect">
            <a:avLst/>
          </a:prstGeom>
          <a:noFill/>
          <a:ln/>
        </p:spPr>
        <p:txBody>
          <a:bodyPr wrap="square" lIns="0" tIns="0" rIns="0" bIns="0" rtlCol="0" anchor="t"/>
          <a:lstStyle/>
          <a:p>
            <a:pPr marL="0" indent="0" algn="l">
              <a:lnSpc>
                <a:spcPts val="2500"/>
              </a:lnSpc>
              <a:buNone/>
            </a:pPr>
            <a:r>
              <a:rPr lang="en-US" sz="1700" dirty="0">
                <a:solidFill>
                  <a:srgbClr val="2B4150"/>
                </a:solidFill>
                <a:latin typeface="Source Sans 3" pitchFamily="34" charset="0"/>
                <a:ea typeface="Source Sans 3" pitchFamily="34" charset="-122"/>
                <a:cs typeface="Source Sans 3" pitchFamily="34" charset="-120"/>
              </a:rPr>
              <a:t>Cung cấp nền tảng tìm kiếm và đặt mua báo trong nước &amp; ngoài nước, phục vụ độc giả không có thời gian ra ngoài mua báo.</a:t>
            </a:r>
            <a:endParaRPr lang="en-US" sz="17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39144" y="2792968"/>
            <a:ext cx="496133" cy="496133"/>
          </a:xfrm>
          <a:prstGeom prst="rect">
            <a:avLst/>
          </a:prstGeom>
        </p:spPr>
      </p:pic>
      <p:sp>
        <p:nvSpPr>
          <p:cNvPr id="9" name="Text 5"/>
          <p:cNvSpPr/>
          <p:nvPr/>
        </p:nvSpPr>
        <p:spPr>
          <a:xfrm>
            <a:off x="7439144" y="3537109"/>
            <a:ext cx="2657475" cy="310158"/>
          </a:xfrm>
          <a:prstGeom prst="rect">
            <a:avLst/>
          </a:prstGeom>
          <a:noFill/>
          <a:ln/>
        </p:spPr>
        <p:txBody>
          <a:bodyPr wrap="none" lIns="0" tIns="0" rIns="0" bIns="0" rtlCol="0" anchor="t"/>
          <a:lstStyle/>
          <a:p>
            <a:pPr marL="0" indent="0" algn="l">
              <a:lnSpc>
                <a:spcPts val="2400"/>
              </a:lnSpc>
              <a:buNone/>
            </a:pPr>
            <a:r>
              <a:rPr lang="en-US" sz="2100" b="1" dirty="0">
                <a:solidFill>
                  <a:srgbClr val="2B4150"/>
                </a:solidFill>
                <a:latin typeface="MuseoModerno Medium" pitchFamily="34" charset="0"/>
                <a:ea typeface="MuseoModerno Medium" pitchFamily="34" charset="-122"/>
                <a:cs typeface="MuseoModerno Medium" pitchFamily="34" charset="-120"/>
              </a:rPr>
              <a:t>Nghiên Cứu Thị Trường</a:t>
            </a:r>
            <a:endParaRPr lang="en-US" sz="2100" b="1" dirty="0"/>
          </a:p>
        </p:txBody>
      </p:sp>
      <p:sp>
        <p:nvSpPr>
          <p:cNvPr id="10" name="Text 6"/>
          <p:cNvSpPr/>
          <p:nvPr/>
        </p:nvSpPr>
        <p:spPr>
          <a:xfrm>
            <a:off x="7439144" y="3966329"/>
            <a:ext cx="6397466" cy="635079"/>
          </a:xfrm>
          <a:prstGeom prst="rect">
            <a:avLst/>
          </a:prstGeom>
          <a:noFill/>
          <a:ln/>
        </p:spPr>
        <p:txBody>
          <a:bodyPr wrap="square" lIns="0" tIns="0" rIns="0" bIns="0" rtlCol="0" anchor="t"/>
          <a:lstStyle/>
          <a:p>
            <a:pPr marL="0" indent="0" algn="l">
              <a:lnSpc>
                <a:spcPts val="2500"/>
              </a:lnSpc>
              <a:buNone/>
            </a:pPr>
            <a:r>
              <a:rPr lang="en-US" sz="1700" dirty="0">
                <a:solidFill>
                  <a:srgbClr val="2B4150"/>
                </a:solidFill>
                <a:latin typeface="Source Sans 3" pitchFamily="34" charset="0"/>
                <a:ea typeface="Source Sans 3" pitchFamily="34" charset="-122"/>
                <a:cs typeface="Source Sans 3" pitchFamily="34" charset="-120"/>
              </a:rPr>
              <a:t>Phân tích thói quen tiêu thụ ấn phẩm in, chu kỳ đặt hạn (tháng/quý/năm) và kỳ vọng giao nhận của khách hàng.</a:t>
            </a:r>
            <a:endParaRPr lang="en-US" sz="17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3790" y="4998244"/>
            <a:ext cx="496133" cy="496133"/>
          </a:xfrm>
          <a:prstGeom prst="rect">
            <a:avLst/>
          </a:prstGeom>
        </p:spPr>
      </p:pic>
      <p:sp>
        <p:nvSpPr>
          <p:cNvPr id="12" name="Text 7"/>
          <p:cNvSpPr/>
          <p:nvPr/>
        </p:nvSpPr>
        <p:spPr>
          <a:xfrm>
            <a:off x="793790" y="5742384"/>
            <a:ext cx="2480905" cy="310158"/>
          </a:xfrm>
          <a:prstGeom prst="rect">
            <a:avLst/>
          </a:prstGeom>
          <a:noFill/>
          <a:ln/>
        </p:spPr>
        <p:txBody>
          <a:bodyPr wrap="none" lIns="0" tIns="0" rIns="0" bIns="0" rtlCol="0" anchor="t"/>
          <a:lstStyle/>
          <a:p>
            <a:pPr marL="0" indent="0" algn="l">
              <a:lnSpc>
                <a:spcPts val="2400"/>
              </a:lnSpc>
              <a:buNone/>
            </a:pPr>
            <a:r>
              <a:rPr lang="en-US" sz="2100" b="1" dirty="0">
                <a:solidFill>
                  <a:srgbClr val="2B4150"/>
                </a:solidFill>
                <a:latin typeface="MuseoModerno Medium" pitchFamily="34" charset="0"/>
                <a:ea typeface="MuseoModerno Medium" pitchFamily="34" charset="-122"/>
                <a:cs typeface="MuseoModerno Medium" pitchFamily="34" charset="-120"/>
              </a:rPr>
              <a:t>Xây Dựng Website</a:t>
            </a:r>
            <a:endParaRPr lang="en-US" sz="2100" b="1" dirty="0"/>
          </a:p>
        </p:txBody>
      </p:sp>
      <p:sp>
        <p:nvSpPr>
          <p:cNvPr id="13" name="Text 8"/>
          <p:cNvSpPr/>
          <p:nvPr/>
        </p:nvSpPr>
        <p:spPr>
          <a:xfrm>
            <a:off x="793790" y="6171605"/>
            <a:ext cx="6397347" cy="635079"/>
          </a:xfrm>
          <a:prstGeom prst="rect">
            <a:avLst/>
          </a:prstGeom>
          <a:noFill/>
          <a:ln/>
        </p:spPr>
        <p:txBody>
          <a:bodyPr wrap="square" lIns="0" tIns="0" rIns="0" bIns="0" rtlCol="0" anchor="t"/>
          <a:lstStyle/>
          <a:p>
            <a:pPr marL="0" indent="0" algn="l">
              <a:lnSpc>
                <a:spcPts val="2500"/>
              </a:lnSpc>
              <a:buNone/>
            </a:pPr>
            <a:r>
              <a:rPr lang="en-US" sz="1700" dirty="0">
                <a:solidFill>
                  <a:srgbClr val="2B4150"/>
                </a:solidFill>
                <a:latin typeface="Source Sans 3" pitchFamily="34" charset="0"/>
                <a:ea typeface="Source Sans 3" pitchFamily="34" charset="-122"/>
                <a:cs typeface="Source Sans 3" pitchFamily="34" charset="-120"/>
              </a:rPr>
              <a:t>Giao diện hiện đại, thân thiện người dùng, tích hợp form đặt báo, tối ưu tốc độ tải và tương thích đa thiết bị.</a:t>
            </a:r>
            <a:endParaRPr lang="en-US" sz="170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39144" y="4998244"/>
            <a:ext cx="496133" cy="496133"/>
          </a:xfrm>
          <a:prstGeom prst="rect">
            <a:avLst/>
          </a:prstGeom>
        </p:spPr>
      </p:pic>
      <p:sp>
        <p:nvSpPr>
          <p:cNvPr id="15" name="Text 9"/>
          <p:cNvSpPr/>
          <p:nvPr/>
        </p:nvSpPr>
        <p:spPr>
          <a:xfrm>
            <a:off x="7439144" y="5742384"/>
            <a:ext cx="2480905" cy="310158"/>
          </a:xfrm>
          <a:prstGeom prst="rect">
            <a:avLst/>
          </a:prstGeom>
          <a:noFill/>
          <a:ln/>
        </p:spPr>
        <p:txBody>
          <a:bodyPr wrap="none" lIns="0" tIns="0" rIns="0" bIns="0" rtlCol="0" anchor="t"/>
          <a:lstStyle/>
          <a:p>
            <a:pPr marL="0" indent="0" algn="l">
              <a:lnSpc>
                <a:spcPts val="2400"/>
              </a:lnSpc>
              <a:buNone/>
            </a:pPr>
            <a:r>
              <a:rPr lang="en-US" sz="2100" b="1" dirty="0">
                <a:solidFill>
                  <a:srgbClr val="2B4150"/>
                </a:solidFill>
                <a:latin typeface="MuseoModerno Medium" pitchFamily="34" charset="0"/>
                <a:ea typeface="MuseoModerno Medium" pitchFamily="34" charset="-122"/>
                <a:cs typeface="MuseoModerno Medium" pitchFamily="34" charset="-120"/>
              </a:rPr>
              <a:t>Nội Dung &amp; Duy Trì</a:t>
            </a:r>
            <a:endParaRPr lang="en-US" sz="2100" b="1" dirty="0"/>
          </a:p>
        </p:txBody>
      </p:sp>
      <p:sp>
        <p:nvSpPr>
          <p:cNvPr id="16" name="Text 10"/>
          <p:cNvSpPr/>
          <p:nvPr/>
        </p:nvSpPr>
        <p:spPr>
          <a:xfrm>
            <a:off x="7439144" y="6171605"/>
            <a:ext cx="6397466" cy="635079"/>
          </a:xfrm>
          <a:prstGeom prst="rect">
            <a:avLst/>
          </a:prstGeom>
          <a:noFill/>
          <a:ln/>
        </p:spPr>
        <p:txBody>
          <a:bodyPr wrap="square" lIns="0" tIns="0" rIns="0" bIns="0" rtlCol="0" anchor="t"/>
          <a:lstStyle/>
          <a:p>
            <a:pPr marL="0" indent="0" algn="l">
              <a:lnSpc>
                <a:spcPts val="2500"/>
              </a:lnSpc>
              <a:buNone/>
            </a:pPr>
            <a:r>
              <a:rPr lang="en-US" sz="1700" dirty="0">
                <a:solidFill>
                  <a:srgbClr val="2B4150"/>
                </a:solidFill>
                <a:latin typeface="Source Sans 3" pitchFamily="34" charset="0"/>
                <a:ea typeface="Source Sans 3" pitchFamily="34" charset="-122"/>
                <a:cs typeface="Source Sans 3" pitchFamily="34" charset="-120"/>
              </a:rPr>
              <a:t>Mô tả chi tiết sản phẩm, hình ảnh độ phân giải cao, chính sách đổi trả rõ ràng. Cập nhật liên tục theo phản hồi khách hàng.</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Shape 0"/>
          <p:cNvSpPr/>
          <p:nvPr/>
        </p:nvSpPr>
        <p:spPr>
          <a:xfrm>
            <a:off x="793790" y="1315045"/>
            <a:ext cx="1388507" cy="373142"/>
          </a:xfrm>
          <a:prstGeom prst="roundRect">
            <a:avLst>
              <a:gd name="adj" fmla="val 6383"/>
            </a:avLst>
          </a:prstGeom>
          <a:solidFill>
            <a:srgbClr val="DBE8F0"/>
          </a:solidFill>
          <a:ln/>
        </p:spPr>
        <p:txBody>
          <a:bodyPr/>
          <a:lstStyle/>
          <a:p>
            <a:endParaRPr lang="en-US"/>
          </a:p>
        </p:txBody>
      </p:sp>
      <p:sp>
        <p:nvSpPr>
          <p:cNvPr id="4" name="Text 1"/>
          <p:cNvSpPr/>
          <p:nvPr/>
        </p:nvSpPr>
        <p:spPr>
          <a:xfrm>
            <a:off x="912852" y="1374577"/>
            <a:ext cx="1150382" cy="254079"/>
          </a:xfrm>
          <a:prstGeom prst="rect">
            <a:avLst/>
          </a:prstGeom>
          <a:noFill/>
          <a:ln/>
        </p:spPr>
        <p:txBody>
          <a:bodyPr wrap="none" lIns="0" tIns="0" rIns="0" bIns="0" rtlCol="0" anchor="t"/>
          <a:lstStyle/>
          <a:p>
            <a:pPr marL="0" indent="0" algn="l">
              <a:lnSpc>
                <a:spcPts val="2000"/>
              </a:lnSpc>
              <a:buNone/>
            </a:pPr>
            <a:r>
              <a:rPr lang="en-US" sz="1250" b="1" dirty="0">
                <a:solidFill>
                  <a:srgbClr val="2B4150"/>
                </a:solidFill>
                <a:latin typeface="Source Sans 3" pitchFamily="34" charset="0"/>
                <a:ea typeface="Source Sans 3" pitchFamily="34" charset="-122"/>
                <a:cs typeface="Source Sans 3" pitchFamily="34" charset="-120"/>
              </a:rPr>
              <a:t>CƠ SỞ LÝ THUYẾT</a:t>
            </a:r>
            <a:endParaRPr lang="en-US" sz="1250" b="1" dirty="0"/>
          </a:p>
        </p:txBody>
      </p:sp>
      <p:sp>
        <p:nvSpPr>
          <p:cNvPr id="5" name="Text 2"/>
          <p:cNvSpPr/>
          <p:nvPr/>
        </p:nvSpPr>
        <p:spPr>
          <a:xfrm>
            <a:off x="793790" y="1767483"/>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124E73"/>
                </a:solidFill>
                <a:latin typeface="MuseoModerno Medium" pitchFamily="34" charset="0"/>
                <a:ea typeface="MuseoModerno Medium" pitchFamily="34" charset="-122"/>
                <a:cs typeface="MuseoModerno Medium" pitchFamily="34" charset="-120"/>
              </a:rPr>
              <a:t>Công Nghệ Sử Dụng</a:t>
            </a:r>
            <a:endParaRPr lang="en-US" sz="3900" b="1" dirty="0"/>
          </a:p>
        </p:txBody>
      </p:sp>
      <p:sp>
        <p:nvSpPr>
          <p:cNvPr id="6" name="Shape 3"/>
          <p:cNvSpPr/>
          <p:nvPr/>
        </p:nvSpPr>
        <p:spPr>
          <a:xfrm>
            <a:off x="650915" y="2685217"/>
            <a:ext cx="3821906" cy="4229338"/>
          </a:xfrm>
          <a:prstGeom prst="roundRect">
            <a:avLst>
              <a:gd name="adj" fmla="val 779"/>
            </a:avLst>
          </a:prstGeom>
          <a:solidFill>
            <a:srgbClr val="325F7B"/>
          </a:solidFill>
          <a:ln/>
        </p:spPr>
        <p:txBody>
          <a:bodyPr/>
          <a:lstStyle/>
          <a:p>
            <a:endParaRPr lang="en-US"/>
          </a:p>
        </p:txBody>
      </p:sp>
      <p:sp>
        <p:nvSpPr>
          <p:cNvPr id="7" name="Text 4"/>
          <p:cNvSpPr/>
          <p:nvPr/>
        </p:nvSpPr>
        <p:spPr>
          <a:xfrm>
            <a:off x="849273" y="2883575"/>
            <a:ext cx="2529483" cy="310158"/>
          </a:xfrm>
          <a:prstGeom prst="rect">
            <a:avLst/>
          </a:prstGeom>
          <a:noFill/>
          <a:ln/>
        </p:spPr>
        <p:txBody>
          <a:bodyPr wrap="none" lIns="0" tIns="0" rIns="0" bIns="0" rtlCol="0" anchor="t"/>
          <a:lstStyle/>
          <a:p>
            <a:pPr marL="0" indent="0" algn="l">
              <a:lnSpc>
                <a:spcPts val="2400"/>
              </a:lnSpc>
              <a:buNone/>
            </a:pPr>
            <a:r>
              <a:rPr lang="en-US" sz="1950" b="1" dirty="0">
                <a:solidFill>
                  <a:srgbClr val="FFFFFF"/>
                </a:solidFill>
                <a:latin typeface="MuseoModerno Medium" pitchFamily="34" charset="0"/>
                <a:ea typeface="MuseoModerno Medium" pitchFamily="34" charset="-122"/>
                <a:cs typeface="MuseoModerno Medium" pitchFamily="34" charset="-120"/>
              </a:rPr>
              <a:t>Công Nghệ Nền Tảng</a:t>
            </a:r>
            <a:endParaRPr lang="en-US" sz="1950" b="1" dirty="0"/>
          </a:p>
        </p:txBody>
      </p:sp>
      <p:sp>
        <p:nvSpPr>
          <p:cNvPr id="8" name="Text 5"/>
          <p:cNvSpPr/>
          <p:nvPr/>
        </p:nvSpPr>
        <p:spPr>
          <a:xfrm>
            <a:off x="849273" y="3392091"/>
            <a:ext cx="3425190" cy="2748558"/>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FFFFFF"/>
                </a:solidFill>
                <a:latin typeface="Source Sans 3" pitchFamily="34" charset="0"/>
                <a:ea typeface="Source Sans 3" pitchFamily="34" charset="-122"/>
                <a:cs typeface="Source Sans 3" pitchFamily="34" charset="-120"/>
              </a:rPr>
              <a:t>HTML</a:t>
            </a:r>
            <a:r>
              <a:rPr lang="en-US" sz="1550" dirty="0">
                <a:solidFill>
                  <a:srgbClr val="FFFFFF"/>
                </a:solidFill>
                <a:latin typeface="Source Sans 3" pitchFamily="34" charset="0"/>
                <a:ea typeface="Source Sans 3" pitchFamily="34" charset="-122"/>
                <a:cs typeface="Source Sans 3" pitchFamily="34" charset="-120"/>
              </a:rPr>
              <a:t>: Cấu trúc website — header, footer, nav, form đặt hàng</a:t>
            </a:r>
            <a:endParaRPr lang="en-US" sz="1550" dirty="0"/>
          </a:p>
          <a:p>
            <a:pPr marL="342900" indent="-342900" algn="l">
              <a:lnSpc>
                <a:spcPts val="2500"/>
              </a:lnSpc>
              <a:buSzPct val="100000"/>
              <a:buChar char="•"/>
            </a:pPr>
            <a:r>
              <a:rPr lang="en-US" sz="1550" b="1" dirty="0">
                <a:solidFill>
                  <a:srgbClr val="FFFFFF"/>
                </a:solidFill>
                <a:latin typeface="Source Sans 3" pitchFamily="34" charset="0"/>
                <a:ea typeface="Source Sans 3" pitchFamily="34" charset="-122"/>
                <a:cs typeface="Source Sans 3" pitchFamily="34" charset="-120"/>
              </a:rPr>
              <a:t>CSS</a:t>
            </a:r>
            <a:r>
              <a:rPr lang="en-US" sz="1550" dirty="0">
                <a:solidFill>
                  <a:srgbClr val="FFFFFF"/>
                </a:solidFill>
                <a:latin typeface="Source Sans 3" pitchFamily="34" charset="0"/>
                <a:ea typeface="Source Sans 3" pitchFamily="34" charset="-122"/>
                <a:cs typeface="Source Sans 3" pitchFamily="34" charset="-120"/>
              </a:rPr>
              <a:t>: Định kiểu giao diện, responsive design, animation tương tác</a:t>
            </a:r>
            <a:endParaRPr lang="en-US" sz="1550" dirty="0"/>
          </a:p>
          <a:p>
            <a:pPr marL="342900" indent="-342900" algn="l">
              <a:lnSpc>
                <a:spcPts val="2500"/>
              </a:lnSpc>
              <a:buSzPct val="100000"/>
              <a:buChar char="•"/>
            </a:pPr>
            <a:r>
              <a:rPr lang="en-US" sz="1550" b="1" dirty="0">
                <a:solidFill>
                  <a:srgbClr val="FFFFFF"/>
                </a:solidFill>
                <a:latin typeface="Source Sans 3" pitchFamily="34" charset="0"/>
                <a:ea typeface="Source Sans 3" pitchFamily="34" charset="-122"/>
                <a:cs typeface="Source Sans 3" pitchFamily="34" charset="-120"/>
              </a:rPr>
              <a:t>JavaScript</a:t>
            </a:r>
            <a:r>
              <a:rPr lang="en-US" sz="1550" dirty="0">
                <a:solidFill>
                  <a:srgbClr val="FFFFFF"/>
                </a:solidFill>
                <a:latin typeface="Source Sans 3" pitchFamily="34" charset="0"/>
                <a:ea typeface="Source Sans 3" pitchFamily="34" charset="-122"/>
                <a:cs typeface="Source Sans 3" pitchFamily="34" charset="-120"/>
              </a:rPr>
              <a:t>: Giỏ hàng, bộ lọc sản phẩm, hiển thị động</a:t>
            </a:r>
            <a:endParaRPr lang="en-US" sz="1550" dirty="0"/>
          </a:p>
          <a:p>
            <a:pPr marL="342900" indent="-342900" algn="l">
              <a:lnSpc>
                <a:spcPts val="2500"/>
              </a:lnSpc>
              <a:buSzPct val="100000"/>
              <a:buChar char="•"/>
            </a:pPr>
            <a:r>
              <a:rPr lang="en-US" sz="1550" b="1" dirty="0">
                <a:solidFill>
                  <a:srgbClr val="FFFFFF"/>
                </a:solidFill>
                <a:latin typeface="Source Sans 3" pitchFamily="34" charset="0"/>
                <a:ea typeface="Source Sans 3" pitchFamily="34" charset="-122"/>
                <a:cs typeface="Source Sans 3" pitchFamily="34" charset="-120"/>
              </a:rPr>
              <a:t>Bootstrap 5.3.5</a:t>
            </a:r>
            <a:r>
              <a:rPr lang="en-US" sz="1550" dirty="0">
                <a:solidFill>
                  <a:srgbClr val="FFFFFF"/>
                </a:solidFill>
                <a:latin typeface="Source Sans 3" pitchFamily="34" charset="0"/>
                <a:ea typeface="Source Sans 3" pitchFamily="34" charset="-122"/>
                <a:cs typeface="Source Sans 3" pitchFamily="34" charset="-120"/>
              </a:rPr>
              <a:t>: Tối ưu giao diện, không phụ thuộc jQuery</a:t>
            </a:r>
            <a:endParaRPr lang="en-US" sz="1550" dirty="0"/>
          </a:p>
        </p:txBody>
      </p:sp>
      <p:sp>
        <p:nvSpPr>
          <p:cNvPr id="9" name="Text 6"/>
          <p:cNvSpPr/>
          <p:nvPr/>
        </p:nvSpPr>
        <p:spPr>
          <a:xfrm>
            <a:off x="4821674" y="288357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124E73"/>
                </a:solidFill>
                <a:latin typeface="MuseoModerno Medium" pitchFamily="34" charset="0"/>
                <a:ea typeface="MuseoModerno Medium" pitchFamily="34" charset="-122"/>
                <a:cs typeface="MuseoModerno Medium" pitchFamily="34" charset="-120"/>
              </a:rPr>
              <a:t>Lý Do Lựa Chọn</a:t>
            </a:r>
            <a:endParaRPr lang="en-US" sz="1950" b="1" dirty="0"/>
          </a:p>
        </p:txBody>
      </p:sp>
      <p:sp>
        <p:nvSpPr>
          <p:cNvPr id="10" name="Text 7"/>
          <p:cNvSpPr/>
          <p:nvPr/>
        </p:nvSpPr>
        <p:spPr>
          <a:xfrm>
            <a:off x="4821674" y="3392091"/>
            <a:ext cx="3536156" cy="3453051"/>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B4150"/>
                </a:solidFill>
                <a:latin typeface="Source Sans 3" pitchFamily="34" charset="0"/>
                <a:ea typeface="Source Sans 3" pitchFamily="34" charset="-122"/>
                <a:cs typeface="Source Sans 3" pitchFamily="34" charset="-120"/>
              </a:rPr>
              <a:t>HTML &amp; CSS dễ học, phù hợp mọi cấp độ dự án</a:t>
            </a:r>
            <a:endParaRPr lang="en-US" sz="1550" dirty="0"/>
          </a:p>
          <a:p>
            <a:pPr marL="342900" indent="-342900" algn="l">
              <a:lnSpc>
                <a:spcPts val="2500"/>
              </a:lnSpc>
              <a:buSzPct val="100000"/>
              <a:buChar char="•"/>
            </a:pPr>
            <a:r>
              <a:rPr lang="en-US" sz="1550" dirty="0">
                <a:solidFill>
                  <a:srgbClr val="2B4150"/>
                </a:solidFill>
                <a:latin typeface="Source Sans 3" pitchFamily="34" charset="0"/>
                <a:ea typeface="Source Sans 3" pitchFamily="34" charset="-122"/>
                <a:cs typeface="Source Sans 3" pitchFamily="34" charset="-120"/>
              </a:rPr>
              <a:t>Bootstrap tiết kiệm thời gian với các thành phần có sẵn (buttons, modals, forms)</a:t>
            </a:r>
            <a:endParaRPr lang="en-US" sz="1550" dirty="0"/>
          </a:p>
          <a:p>
            <a:pPr marL="342900" indent="-342900" algn="l">
              <a:lnSpc>
                <a:spcPts val="2500"/>
              </a:lnSpc>
              <a:buSzPct val="100000"/>
              <a:buChar char="•"/>
            </a:pPr>
            <a:r>
              <a:rPr lang="en-US" sz="1550" dirty="0">
                <a:solidFill>
                  <a:srgbClr val="2B4150"/>
                </a:solidFill>
                <a:latin typeface="Source Sans 3" pitchFamily="34" charset="0"/>
                <a:ea typeface="Source Sans 3" pitchFamily="34" charset="-122"/>
                <a:cs typeface="Source Sans 3" pitchFamily="34" charset="-120"/>
              </a:rPr>
              <a:t>Hỗ trợ responsive tốt, tương thích đa thiết bị</a:t>
            </a:r>
            <a:endParaRPr lang="en-US" sz="1550" dirty="0"/>
          </a:p>
          <a:p>
            <a:pPr marL="342900" indent="-342900" algn="l">
              <a:lnSpc>
                <a:spcPts val="2500"/>
              </a:lnSpc>
              <a:buSzPct val="100000"/>
              <a:buChar char="•"/>
            </a:pPr>
            <a:r>
              <a:rPr lang="en-US" sz="1550" dirty="0">
                <a:solidFill>
                  <a:srgbClr val="2B4150"/>
                </a:solidFill>
                <a:latin typeface="Source Sans 3" pitchFamily="34" charset="0"/>
                <a:ea typeface="Source Sans 3" pitchFamily="34" charset="-122"/>
                <a:cs typeface="Source Sans 3" pitchFamily="34" charset="-120"/>
              </a:rPr>
              <a:t>Phổ biến, dễ bảo trì và cập nhật</a:t>
            </a:r>
            <a:endParaRPr lang="en-US" sz="1550" dirty="0"/>
          </a:p>
          <a:p>
            <a:pPr marL="342900" indent="-342900" algn="l">
              <a:lnSpc>
                <a:spcPts val="2500"/>
              </a:lnSpc>
              <a:buSzPct val="100000"/>
              <a:buChar char="•"/>
            </a:pPr>
            <a:r>
              <a:rPr lang="en-US" sz="1550" dirty="0">
                <a:solidFill>
                  <a:srgbClr val="2B4150"/>
                </a:solidFill>
                <a:latin typeface="Source Sans 3" pitchFamily="34" charset="0"/>
                <a:ea typeface="Source Sans 3" pitchFamily="34" charset="-122"/>
                <a:cs typeface="Source Sans 3" pitchFamily="34" charset="-120"/>
              </a:rPr>
              <a:t>Hiểu giao thức HTTP/HTTPS và nguyên tắc UX/UI</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93790" y="695206"/>
            <a:ext cx="953453" cy="373142"/>
          </a:xfrm>
          <a:prstGeom prst="roundRect">
            <a:avLst>
              <a:gd name="adj" fmla="val 6383"/>
            </a:avLst>
          </a:prstGeom>
          <a:solidFill>
            <a:srgbClr val="DBE8F0"/>
          </a:solidFill>
          <a:ln/>
        </p:spPr>
        <p:txBody>
          <a:bodyPr/>
          <a:lstStyle/>
          <a:p>
            <a:endParaRPr lang="en-US"/>
          </a:p>
        </p:txBody>
      </p:sp>
      <p:sp>
        <p:nvSpPr>
          <p:cNvPr id="3" name="Text 1"/>
          <p:cNvSpPr/>
          <p:nvPr/>
        </p:nvSpPr>
        <p:spPr>
          <a:xfrm>
            <a:off x="912852" y="754737"/>
            <a:ext cx="715328" cy="254079"/>
          </a:xfrm>
          <a:prstGeom prst="rect">
            <a:avLst/>
          </a:prstGeom>
          <a:noFill/>
          <a:ln/>
        </p:spPr>
        <p:txBody>
          <a:bodyPr wrap="none" lIns="0" tIns="0" rIns="0" bIns="0" rtlCol="0" anchor="t"/>
          <a:lstStyle/>
          <a:p>
            <a:pPr marL="0" indent="0" algn="l">
              <a:lnSpc>
                <a:spcPts val="2000"/>
              </a:lnSpc>
              <a:buNone/>
            </a:pPr>
            <a:r>
              <a:rPr lang="en-US" sz="1250" dirty="0">
                <a:solidFill>
                  <a:srgbClr val="2B4150"/>
                </a:solidFill>
                <a:latin typeface="Source Sans 3" pitchFamily="34" charset="0"/>
                <a:ea typeface="Source Sans 3" pitchFamily="34" charset="-122"/>
                <a:cs typeface="Source Sans 3" pitchFamily="34" charset="-120"/>
              </a:rPr>
              <a:t>CHƯƠNG 2</a:t>
            </a:r>
            <a:endParaRPr lang="en-US" sz="1250" dirty="0"/>
          </a:p>
        </p:txBody>
      </p:sp>
      <p:sp>
        <p:nvSpPr>
          <p:cNvPr id="4" name="Text 2"/>
          <p:cNvSpPr/>
          <p:nvPr/>
        </p:nvSpPr>
        <p:spPr>
          <a:xfrm>
            <a:off x="793790" y="1147643"/>
            <a:ext cx="6664166" cy="620078"/>
          </a:xfrm>
          <a:prstGeom prst="rect">
            <a:avLst/>
          </a:prstGeom>
          <a:noFill/>
          <a:ln/>
        </p:spPr>
        <p:txBody>
          <a:bodyPr wrap="none" lIns="0" tIns="0" rIns="0" bIns="0" rtlCol="0" anchor="t"/>
          <a:lstStyle/>
          <a:p>
            <a:pPr marL="0" indent="0" algn="l">
              <a:lnSpc>
                <a:spcPts val="4850"/>
              </a:lnSpc>
              <a:buNone/>
            </a:pPr>
            <a:r>
              <a:rPr lang="en-US" sz="3900" b="1" dirty="0">
                <a:solidFill>
                  <a:srgbClr val="124E73"/>
                </a:solidFill>
                <a:latin typeface="MuseoModerno Medium" pitchFamily="34" charset="0"/>
                <a:ea typeface="MuseoModerno Medium" pitchFamily="34" charset="-122"/>
                <a:cs typeface="MuseoModerno Medium" pitchFamily="34" charset="-120"/>
              </a:rPr>
              <a:t>Phân Tích Yêu Cầu Hệ Thống</a:t>
            </a:r>
            <a:endParaRPr lang="en-US" sz="3900" b="1" dirty="0"/>
          </a:p>
        </p:txBody>
      </p:sp>
      <p:sp>
        <p:nvSpPr>
          <p:cNvPr id="5" name="Shape 3"/>
          <p:cNvSpPr/>
          <p:nvPr/>
        </p:nvSpPr>
        <p:spPr>
          <a:xfrm>
            <a:off x="793790" y="2065377"/>
            <a:ext cx="6422231" cy="2102048"/>
          </a:xfrm>
          <a:prstGeom prst="roundRect">
            <a:avLst>
              <a:gd name="adj" fmla="val 1416"/>
            </a:avLst>
          </a:prstGeom>
          <a:solidFill>
            <a:srgbClr val="FFFCF5"/>
          </a:solidFill>
          <a:ln w="22860">
            <a:solidFill>
              <a:srgbClr val="D9D4C9"/>
            </a:solidFill>
            <a:prstDash val="solid"/>
          </a:ln>
        </p:spPr>
        <p:txBody>
          <a:bodyPr/>
          <a:lstStyle/>
          <a:p>
            <a:endParaRPr lang="en-US"/>
          </a:p>
        </p:txBody>
      </p:sp>
      <p:sp>
        <p:nvSpPr>
          <p:cNvPr id="6" name="Shape 4"/>
          <p:cNvSpPr/>
          <p:nvPr/>
        </p:nvSpPr>
        <p:spPr>
          <a:xfrm>
            <a:off x="816650" y="2088237"/>
            <a:ext cx="6376511" cy="595313"/>
          </a:xfrm>
          <a:prstGeom prst="roundRect">
            <a:avLst>
              <a:gd name="adj" fmla="val 393"/>
            </a:avLst>
          </a:prstGeom>
          <a:solidFill>
            <a:srgbClr val="F3EEE3"/>
          </a:solidFill>
          <a:ln/>
        </p:spPr>
        <p:txBody>
          <a:bodyPr/>
          <a:lstStyle/>
          <a:p>
            <a:endParaRPr lang="en-US"/>
          </a:p>
        </p:txBody>
      </p:sp>
      <p:sp>
        <p:nvSpPr>
          <p:cNvPr id="7" name="Text 5"/>
          <p:cNvSpPr/>
          <p:nvPr/>
        </p:nvSpPr>
        <p:spPr>
          <a:xfrm>
            <a:off x="3856077" y="2199799"/>
            <a:ext cx="297656" cy="372070"/>
          </a:xfrm>
          <a:prstGeom prst="rect">
            <a:avLst/>
          </a:prstGeom>
          <a:noFill/>
          <a:ln/>
        </p:spPr>
        <p:txBody>
          <a:bodyPr wrap="none" lIns="0" tIns="0" rIns="0" bIns="0" rtlCol="0" anchor="t"/>
          <a:lstStyle/>
          <a:p>
            <a:pPr marL="0" indent="0" algn="l">
              <a:lnSpc>
                <a:spcPts val="2300"/>
              </a:lnSpc>
              <a:buNone/>
            </a:pPr>
            <a:r>
              <a:rPr lang="en-US" sz="2300" b="1" dirty="0">
                <a:solidFill>
                  <a:srgbClr val="2B4150"/>
                </a:solidFill>
                <a:latin typeface="MuseoModerno Medium" pitchFamily="34" charset="0"/>
                <a:ea typeface="MuseoModerno Medium" pitchFamily="34" charset="-122"/>
                <a:cs typeface="MuseoModerno Medium" pitchFamily="34" charset="-120"/>
              </a:rPr>
              <a:t>1</a:t>
            </a:r>
            <a:endParaRPr lang="en-US" sz="2300" b="1" dirty="0"/>
          </a:p>
        </p:txBody>
      </p:sp>
      <p:sp>
        <p:nvSpPr>
          <p:cNvPr id="8" name="Text 6"/>
          <p:cNvSpPr/>
          <p:nvPr/>
        </p:nvSpPr>
        <p:spPr>
          <a:xfrm>
            <a:off x="1015008" y="288190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B4150"/>
                </a:solidFill>
                <a:latin typeface="MuseoModerno Medium" pitchFamily="34" charset="0"/>
                <a:ea typeface="MuseoModerno Medium" pitchFamily="34" charset="-122"/>
                <a:cs typeface="MuseoModerno Medium" pitchFamily="34" charset="-120"/>
              </a:rPr>
              <a:t>Quản Lý Tài Khoản</a:t>
            </a:r>
            <a:endParaRPr lang="en-US" sz="1950" b="1" dirty="0"/>
          </a:p>
        </p:txBody>
      </p:sp>
      <p:sp>
        <p:nvSpPr>
          <p:cNvPr id="9" name="Text 7"/>
          <p:cNvSpPr/>
          <p:nvPr/>
        </p:nvSpPr>
        <p:spPr>
          <a:xfrm>
            <a:off x="1015008" y="3311128"/>
            <a:ext cx="5979795" cy="317540"/>
          </a:xfrm>
          <a:prstGeom prst="rect">
            <a:avLst/>
          </a:prstGeom>
          <a:noFill/>
          <a:ln/>
        </p:spPr>
        <p:txBody>
          <a:bodyPr wrap="none" lIns="0" tIns="0" rIns="0" bIns="0" rtlCol="0" anchor="t"/>
          <a:lstStyle/>
          <a:p>
            <a:pPr marL="0" indent="0" algn="l">
              <a:lnSpc>
                <a:spcPts val="2500"/>
              </a:lnSpc>
              <a:buNone/>
            </a:pPr>
            <a:r>
              <a:rPr lang="en-US" sz="1550" dirty="0">
                <a:solidFill>
                  <a:srgbClr val="2B4150"/>
                </a:solidFill>
                <a:latin typeface="Source Sans 3" pitchFamily="34" charset="0"/>
                <a:ea typeface="Source Sans 3" pitchFamily="34" charset="-122"/>
                <a:cs typeface="Source Sans 3" pitchFamily="34" charset="-120"/>
              </a:rPr>
              <a:t>Đăng ký &amp; đăng nhập qua popup Modal tiện lợi, không cần tải lại trang.</a:t>
            </a:r>
            <a:endParaRPr lang="en-US" sz="1550" dirty="0"/>
          </a:p>
        </p:txBody>
      </p:sp>
      <p:sp>
        <p:nvSpPr>
          <p:cNvPr id="10" name="Shape 8"/>
          <p:cNvSpPr/>
          <p:nvPr/>
        </p:nvSpPr>
        <p:spPr>
          <a:xfrm>
            <a:off x="7414379" y="2065377"/>
            <a:ext cx="6422231" cy="2102048"/>
          </a:xfrm>
          <a:prstGeom prst="roundRect">
            <a:avLst>
              <a:gd name="adj" fmla="val 1416"/>
            </a:avLst>
          </a:prstGeom>
          <a:solidFill>
            <a:srgbClr val="FFFCF5"/>
          </a:solidFill>
          <a:ln w="22860">
            <a:solidFill>
              <a:srgbClr val="D9D4C9"/>
            </a:solidFill>
            <a:prstDash val="solid"/>
          </a:ln>
        </p:spPr>
        <p:txBody>
          <a:bodyPr/>
          <a:lstStyle/>
          <a:p>
            <a:endParaRPr lang="en-US"/>
          </a:p>
        </p:txBody>
      </p:sp>
      <p:sp>
        <p:nvSpPr>
          <p:cNvPr id="11" name="Shape 9"/>
          <p:cNvSpPr/>
          <p:nvPr/>
        </p:nvSpPr>
        <p:spPr>
          <a:xfrm>
            <a:off x="7437239" y="2088237"/>
            <a:ext cx="6376511" cy="595313"/>
          </a:xfrm>
          <a:prstGeom prst="roundRect">
            <a:avLst>
              <a:gd name="adj" fmla="val 393"/>
            </a:avLst>
          </a:prstGeom>
          <a:solidFill>
            <a:srgbClr val="F3EEE3"/>
          </a:solidFill>
          <a:ln/>
        </p:spPr>
        <p:txBody>
          <a:bodyPr/>
          <a:lstStyle/>
          <a:p>
            <a:endParaRPr lang="en-US"/>
          </a:p>
        </p:txBody>
      </p:sp>
      <p:sp>
        <p:nvSpPr>
          <p:cNvPr id="12" name="Text 10"/>
          <p:cNvSpPr/>
          <p:nvPr/>
        </p:nvSpPr>
        <p:spPr>
          <a:xfrm>
            <a:off x="10476667" y="2199799"/>
            <a:ext cx="297656" cy="372070"/>
          </a:xfrm>
          <a:prstGeom prst="rect">
            <a:avLst/>
          </a:prstGeom>
          <a:noFill/>
          <a:ln/>
        </p:spPr>
        <p:txBody>
          <a:bodyPr wrap="none" lIns="0" tIns="0" rIns="0" bIns="0" rtlCol="0" anchor="t"/>
          <a:lstStyle/>
          <a:p>
            <a:pPr marL="0" indent="0" algn="l">
              <a:lnSpc>
                <a:spcPts val="2300"/>
              </a:lnSpc>
              <a:buNone/>
            </a:pPr>
            <a:r>
              <a:rPr lang="en-US" sz="2300" b="1" dirty="0">
                <a:solidFill>
                  <a:srgbClr val="2B4150"/>
                </a:solidFill>
                <a:latin typeface="MuseoModerno Medium" pitchFamily="34" charset="0"/>
                <a:ea typeface="MuseoModerno Medium" pitchFamily="34" charset="-122"/>
                <a:cs typeface="MuseoModerno Medium" pitchFamily="34" charset="-120"/>
              </a:rPr>
              <a:t>2</a:t>
            </a:r>
            <a:endParaRPr lang="en-US" sz="2300" b="1" dirty="0"/>
          </a:p>
        </p:txBody>
      </p:sp>
      <p:sp>
        <p:nvSpPr>
          <p:cNvPr id="13" name="Text 11"/>
          <p:cNvSpPr/>
          <p:nvPr/>
        </p:nvSpPr>
        <p:spPr>
          <a:xfrm>
            <a:off x="7635597" y="2881908"/>
            <a:ext cx="2551271" cy="310158"/>
          </a:xfrm>
          <a:prstGeom prst="rect">
            <a:avLst/>
          </a:prstGeom>
          <a:noFill/>
          <a:ln/>
        </p:spPr>
        <p:txBody>
          <a:bodyPr wrap="none" lIns="0" tIns="0" rIns="0" bIns="0" rtlCol="0" anchor="t"/>
          <a:lstStyle/>
          <a:p>
            <a:pPr marL="0" indent="0" algn="l">
              <a:lnSpc>
                <a:spcPts val="2400"/>
              </a:lnSpc>
              <a:buNone/>
            </a:pPr>
            <a:r>
              <a:rPr lang="en-US" sz="1950" b="1" dirty="0">
                <a:solidFill>
                  <a:srgbClr val="2B4150"/>
                </a:solidFill>
                <a:latin typeface="MuseoModerno Medium" pitchFamily="34" charset="0"/>
                <a:ea typeface="MuseoModerno Medium" pitchFamily="34" charset="-122"/>
                <a:cs typeface="MuseoModerno Medium" pitchFamily="34" charset="-120"/>
              </a:rPr>
              <a:t>Danh Mục Sản Phẩm</a:t>
            </a:r>
            <a:endParaRPr lang="en-US" sz="1950" b="1" dirty="0"/>
          </a:p>
        </p:txBody>
      </p:sp>
      <p:sp>
        <p:nvSpPr>
          <p:cNvPr id="14" name="Text 12"/>
          <p:cNvSpPr/>
          <p:nvPr/>
        </p:nvSpPr>
        <p:spPr>
          <a:xfrm>
            <a:off x="7635597" y="3311128"/>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2B4150"/>
                </a:solidFill>
                <a:latin typeface="Source Sans 3" pitchFamily="34" charset="0"/>
                <a:ea typeface="Source Sans 3" pitchFamily="34" charset="-122"/>
                <a:cs typeface="Source Sans 3" pitchFamily="34" charset="-120"/>
              </a:rPr>
              <a:t>Hiển thị trực quan danh sách báo/tạp chí với hình ảnh, tên và giá. Sidebar gợi ý đầu báo nổi bật.</a:t>
            </a:r>
            <a:endParaRPr lang="en-US" sz="1550" dirty="0"/>
          </a:p>
        </p:txBody>
      </p:sp>
      <p:sp>
        <p:nvSpPr>
          <p:cNvPr id="15" name="Shape 13"/>
          <p:cNvSpPr/>
          <p:nvPr/>
        </p:nvSpPr>
        <p:spPr>
          <a:xfrm>
            <a:off x="793790" y="4365784"/>
            <a:ext cx="6422231" cy="2102048"/>
          </a:xfrm>
          <a:prstGeom prst="roundRect">
            <a:avLst>
              <a:gd name="adj" fmla="val 1416"/>
            </a:avLst>
          </a:prstGeom>
          <a:solidFill>
            <a:srgbClr val="FFFCF5"/>
          </a:solidFill>
          <a:ln w="22860">
            <a:solidFill>
              <a:srgbClr val="D9D4C9"/>
            </a:solidFill>
            <a:prstDash val="solid"/>
          </a:ln>
        </p:spPr>
        <p:txBody>
          <a:bodyPr/>
          <a:lstStyle/>
          <a:p>
            <a:endParaRPr lang="en-US"/>
          </a:p>
        </p:txBody>
      </p:sp>
      <p:sp>
        <p:nvSpPr>
          <p:cNvPr id="16" name="Shape 14"/>
          <p:cNvSpPr/>
          <p:nvPr/>
        </p:nvSpPr>
        <p:spPr>
          <a:xfrm>
            <a:off x="816650" y="4388644"/>
            <a:ext cx="6376511" cy="595313"/>
          </a:xfrm>
          <a:prstGeom prst="roundRect">
            <a:avLst>
              <a:gd name="adj" fmla="val 393"/>
            </a:avLst>
          </a:prstGeom>
          <a:solidFill>
            <a:srgbClr val="F3EEE3"/>
          </a:solidFill>
          <a:ln/>
        </p:spPr>
        <p:txBody>
          <a:bodyPr/>
          <a:lstStyle/>
          <a:p>
            <a:endParaRPr lang="en-US"/>
          </a:p>
        </p:txBody>
      </p:sp>
      <p:sp>
        <p:nvSpPr>
          <p:cNvPr id="17" name="Text 15"/>
          <p:cNvSpPr/>
          <p:nvPr/>
        </p:nvSpPr>
        <p:spPr>
          <a:xfrm>
            <a:off x="3856077" y="4500205"/>
            <a:ext cx="297656" cy="372070"/>
          </a:xfrm>
          <a:prstGeom prst="rect">
            <a:avLst/>
          </a:prstGeom>
          <a:noFill/>
          <a:ln/>
        </p:spPr>
        <p:txBody>
          <a:bodyPr wrap="none" lIns="0" tIns="0" rIns="0" bIns="0" rtlCol="0" anchor="t"/>
          <a:lstStyle/>
          <a:p>
            <a:pPr marL="0" indent="0" algn="l">
              <a:lnSpc>
                <a:spcPts val="2300"/>
              </a:lnSpc>
              <a:buNone/>
            </a:pPr>
            <a:r>
              <a:rPr lang="en-US" sz="2300" b="1" dirty="0">
                <a:solidFill>
                  <a:srgbClr val="2B4150"/>
                </a:solidFill>
                <a:latin typeface="MuseoModerno Medium" pitchFamily="34" charset="0"/>
                <a:ea typeface="MuseoModerno Medium" pitchFamily="34" charset="-122"/>
                <a:cs typeface="MuseoModerno Medium" pitchFamily="34" charset="-120"/>
              </a:rPr>
              <a:t>3</a:t>
            </a:r>
            <a:endParaRPr lang="en-US" sz="2300" b="1" dirty="0"/>
          </a:p>
        </p:txBody>
      </p:sp>
      <p:sp>
        <p:nvSpPr>
          <p:cNvPr id="18" name="Text 16"/>
          <p:cNvSpPr/>
          <p:nvPr/>
        </p:nvSpPr>
        <p:spPr>
          <a:xfrm>
            <a:off x="1015008" y="5182314"/>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B4150"/>
                </a:solidFill>
                <a:latin typeface="MuseoModerno Medium" pitchFamily="34" charset="0"/>
                <a:ea typeface="MuseoModerno Medium" pitchFamily="34" charset="-122"/>
                <a:cs typeface="MuseoModerno Medium" pitchFamily="34" charset="-120"/>
              </a:rPr>
              <a:t>Giỏ Hàng Động</a:t>
            </a:r>
            <a:endParaRPr lang="en-US" sz="1950" b="1" dirty="0"/>
          </a:p>
        </p:txBody>
      </p:sp>
      <p:sp>
        <p:nvSpPr>
          <p:cNvPr id="19" name="Text 17"/>
          <p:cNvSpPr/>
          <p:nvPr/>
        </p:nvSpPr>
        <p:spPr>
          <a:xfrm>
            <a:off x="1015008" y="5611535"/>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2B4150"/>
                </a:solidFill>
                <a:latin typeface="Source Sans 3" pitchFamily="34" charset="0"/>
                <a:ea typeface="Source Sans 3" pitchFamily="34" charset="-122"/>
                <a:cs typeface="Source Sans 3" pitchFamily="34" charset="-120"/>
              </a:rPr>
              <a:t>Thêm, sửa, xóa sản phẩm; tự động tính tổng tiền. Lưu trữ bằng LocalStorage khi chuyển trang.</a:t>
            </a:r>
            <a:endParaRPr lang="en-US" sz="1550" dirty="0"/>
          </a:p>
        </p:txBody>
      </p:sp>
      <p:sp>
        <p:nvSpPr>
          <p:cNvPr id="20" name="Shape 18"/>
          <p:cNvSpPr/>
          <p:nvPr/>
        </p:nvSpPr>
        <p:spPr>
          <a:xfrm>
            <a:off x="7414379" y="4365784"/>
            <a:ext cx="6422231" cy="2102048"/>
          </a:xfrm>
          <a:prstGeom prst="roundRect">
            <a:avLst>
              <a:gd name="adj" fmla="val 1416"/>
            </a:avLst>
          </a:prstGeom>
          <a:solidFill>
            <a:srgbClr val="FFFCF5"/>
          </a:solidFill>
          <a:ln w="22860">
            <a:solidFill>
              <a:srgbClr val="D9D4C9"/>
            </a:solidFill>
            <a:prstDash val="solid"/>
          </a:ln>
        </p:spPr>
        <p:txBody>
          <a:bodyPr/>
          <a:lstStyle/>
          <a:p>
            <a:endParaRPr lang="en-US"/>
          </a:p>
        </p:txBody>
      </p:sp>
      <p:sp>
        <p:nvSpPr>
          <p:cNvPr id="21" name="Shape 19"/>
          <p:cNvSpPr/>
          <p:nvPr/>
        </p:nvSpPr>
        <p:spPr>
          <a:xfrm>
            <a:off x="7437239" y="4388644"/>
            <a:ext cx="6376511" cy="595313"/>
          </a:xfrm>
          <a:prstGeom prst="roundRect">
            <a:avLst>
              <a:gd name="adj" fmla="val 393"/>
            </a:avLst>
          </a:prstGeom>
          <a:solidFill>
            <a:srgbClr val="F3EEE3"/>
          </a:solidFill>
          <a:ln/>
        </p:spPr>
        <p:txBody>
          <a:bodyPr/>
          <a:lstStyle/>
          <a:p>
            <a:endParaRPr lang="en-US"/>
          </a:p>
        </p:txBody>
      </p:sp>
      <p:sp>
        <p:nvSpPr>
          <p:cNvPr id="22" name="Text 20"/>
          <p:cNvSpPr/>
          <p:nvPr/>
        </p:nvSpPr>
        <p:spPr>
          <a:xfrm>
            <a:off x="10476667" y="4500205"/>
            <a:ext cx="297656" cy="372070"/>
          </a:xfrm>
          <a:prstGeom prst="rect">
            <a:avLst/>
          </a:prstGeom>
          <a:noFill/>
          <a:ln/>
        </p:spPr>
        <p:txBody>
          <a:bodyPr wrap="none" lIns="0" tIns="0" rIns="0" bIns="0" rtlCol="0" anchor="t"/>
          <a:lstStyle/>
          <a:p>
            <a:pPr marL="0" indent="0" algn="l">
              <a:lnSpc>
                <a:spcPts val="2300"/>
              </a:lnSpc>
              <a:buNone/>
            </a:pPr>
            <a:r>
              <a:rPr lang="en-US" sz="2300" b="1" dirty="0">
                <a:solidFill>
                  <a:srgbClr val="2B4150"/>
                </a:solidFill>
                <a:latin typeface="MuseoModerno Medium" pitchFamily="34" charset="0"/>
                <a:ea typeface="MuseoModerno Medium" pitchFamily="34" charset="-122"/>
                <a:cs typeface="MuseoModerno Medium" pitchFamily="34" charset="-120"/>
              </a:rPr>
              <a:t>4</a:t>
            </a:r>
            <a:endParaRPr lang="en-US" sz="2300" b="1" dirty="0"/>
          </a:p>
        </p:txBody>
      </p:sp>
      <p:sp>
        <p:nvSpPr>
          <p:cNvPr id="23" name="Text 21"/>
          <p:cNvSpPr/>
          <p:nvPr/>
        </p:nvSpPr>
        <p:spPr>
          <a:xfrm>
            <a:off x="7635597" y="5182314"/>
            <a:ext cx="2679025" cy="310158"/>
          </a:xfrm>
          <a:prstGeom prst="rect">
            <a:avLst/>
          </a:prstGeom>
          <a:noFill/>
          <a:ln/>
        </p:spPr>
        <p:txBody>
          <a:bodyPr wrap="none" lIns="0" tIns="0" rIns="0" bIns="0" rtlCol="0" anchor="t"/>
          <a:lstStyle/>
          <a:p>
            <a:pPr marL="0" indent="0" algn="l">
              <a:lnSpc>
                <a:spcPts val="2400"/>
              </a:lnSpc>
              <a:buNone/>
            </a:pPr>
            <a:r>
              <a:rPr lang="en-US" sz="1950" b="1" dirty="0">
                <a:solidFill>
                  <a:srgbClr val="2B4150"/>
                </a:solidFill>
                <a:latin typeface="MuseoModerno Medium" pitchFamily="34" charset="0"/>
                <a:ea typeface="MuseoModerno Medium" pitchFamily="34" charset="-122"/>
                <a:cs typeface="MuseoModerno Medium" pitchFamily="34" charset="-120"/>
              </a:rPr>
              <a:t>Đặt Báo &amp; Thanh Toán</a:t>
            </a:r>
            <a:endParaRPr lang="en-US" sz="1950" b="1" dirty="0"/>
          </a:p>
        </p:txBody>
      </p:sp>
      <p:sp>
        <p:nvSpPr>
          <p:cNvPr id="24" name="Text 22"/>
          <p:cNvSpPr/>
          <p:nvPr/>
        </p:nvSpPr>
        <p:spPr>
          <a:xfrm>
            <a:off x="7635597" y="5611535"/>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2B4150"/>
                </a:solidFill>
                <a:latin typeface="Source Sans 3" pitchFamily="34" charset="0"/>
                <a:ea typeface="Source Sans 3" pitchFamily="34" charset="-122"/>
                <a:cs typeface="Source Sans 3" pitchFamily="34" charset="-120"/>
              </a:rPr>
              <a:t>Form nhập thông tin cá nhân và chọn chu kỳ đặt báo: 1 tháng, 3 tháng, 6 tháng.</a:t>
            </a:r>
            <a:endParaRPr lang="en-US" sz="1550" dirty="0"/>
          </a:p>
        </p:txBody>
      </p:sp>
      <p:sp>
        <p:nvSpPr>
          <p:cNvPr id="25" name="Shape 23"/>
          <p:cNvSpPr/>
          <p:nvPr/>
        </p:nvSpPr>
        <p:spPr>
          <a:xfrm>
            <a:off x="793790" y="6691074"/>
            <a:ext cx="13042821" cy="843201"/>
          </a:xfrm>
          <a:prstGeom prst="roundRect">
            <a:avLst>
              <a:gd name="adj" fmla="val 3531"/>
            </a:avLst>
          </a:prstGeom>
          <a:solidFill>
            <a:srgbClr val="C9DDE9"/>
          </a:solidFill>
          <a:ln/>
        </p:spPr>
        <p:txBody>
          <a:bodyPr/>
          <a:lstStyle/>
          <a:p>
            <a:endParaRPr lang="en-US"/>
          </a:p>
        </p:txBody>
      </p:sp>
      <p:pic>
        <p:nvPicPr>
          <p:cNvPr id="26" name="Image 0" descr="preencoded.png"/>
          <p:cNvPicPr>
            <a:picLocks noChangeAspect="1"/>
          </p:cNvPicPr>
          <p:nvPr/>
        </p:nvPicPr>
        <p:blipFill>
          <a:blip r:embed="rId3"/>
          <a:stretch>
            <a:fillRect/>
          </a:stretch>
        </p:blipFill>
        <p:spPr>
          <a:xfrm>
            <a:off x="992148" y="6986349"/>
            <a:ext cx="248007" cy="198358"/>
          </a:xfrm>
          <a:prstGeom prst="rect">
            <a:avLst/>
          </a:prstGeom>
        </p:spPr>
      </p:pic>
      <p:sp>
        <p:nvSpPr>
          <p:cNvPr id="27" name="Text 24"/>
          <p:cNvSpPr/>
          <p:nvPr/>
        </p:nvSpPr>
        <p:spPr>
          <a:xfrm>
            <a:off x="1438513" y="6938963"/>
            <a:ext cx="12199739" cy="317540"/>
          </a:xfrm>
          <a:prstGeom prst="rect">
            <a:avLst/>
          </a:prstGeom>
          <a:noFill/>
          <a:ln/>
        </p:spPr>
        <p:txBody>
          <a:bodyPr wrap="none" lIns="0" tIns="0" rIns="0" bIns="0" rtlCol="0" anchor="t"/>
          <a:lstStyle/>
          <a:p>
            <a:pPr marL="0" indent="0" algn="l">
              <a:lnSpc>
                <a:spcPts val="2500"/>
              </a:lnSpc>
              <a:buNone/>
            </a:pPr>
            <a:r>
              <a:rPr lang="en-US" sz="1550" b="1" dirty="0">
                <a:solidFill>
                  <a:srgbClr val="000000"/>
                </a:solidFill>
                <a:latin typeface="Source Sans 3" pitchFamily="34" charset="0"/>
                <a:ea typeface="Source Sans 3" pitchFamily="34" charset="-122"/>
                <a:cs typeface="Source Sans 3" pitchFamily="34" charset="-120"/>
              </a:rPr>
              <a:t>Yêu cầu phi chức năng:</a:t>
            </a:r>
            <a:r>
              <a:rPr lang="en-US" sz="1550" dirty="0">
                <a:solidFill>
                  <a:srgbClr val="000000"/>
                </a:solidFill>
                <a:latin typeface="Source Sans 3" pitchFamily="34" charset="0"/>
                <a:ea typeface="Source Sans 3" pitchFamily="34" charset="-122"/>
                <a:cs typeface="Source Sans 3" pitchFamily="34" charset="-120"/>
              </a:rPr>
              <a:t> Giao diện tối giản, bố cục rõ ràng; Header/Footer nhất quán xuyên suốt; Tốc độ tải nhanh, hiệu ứng JavaScript mượt mà.</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91396" y="801410"/>
            <a:ext cx="8935403" cy="540187"/>
          </a:xfrm>
          <a:prstGeom prst="rect">
            <a:avLst/>
          </a:prstGeom>
          <a:noFill/>
          <a:ln/>
        </p:spPr>
        <p:txBody>
          <a:bodyPr wrap="none" lIns="0" tIns="0" rIns="0" bIns="0" rtlCol="0" anchor="t"/>
          <a:lstStyle/>
          <a:p>
            <a:pPr marL="0" indent="0" algn="l">
              <a:lnSpc>
                <a:spcPts val="4250"/>
              </a:lnSpc>
              <a:buNone/>
            </a:pPr>
            <a:r>
              <a:rPr lang="en-US" sz="3900" b="1" dirty="0">
                <a:solidFill>
                  <a:srgbClr val="124E73"/>
                </a:solidFill>
                <a:latin typeface="MuseoModerno Medium" pitchFamily="34" charset="0"/>
                <a:ea typeface="MuseoModerno Medium" pitchFamily="34" charset="-122"/>
                <a:cs typeface="MuseoModerno Medium" pitchFamily="34" charset="-120"/>
              </a:rPr>
              <a:t>Đối Tượng Người Dùng &amp; Luồng Hoạt Động</a:t>
            </a:r>
            <a:endParaRPr lang="en-US" sz="3900" b="1" dirty="0"/>
          </a:p>
        </p:txBody>
      </p:sp>
      <p:sp>
        <p:nvSpPr>
          <p:cNvPr id="3" name="Shape 1"/>
          <p:cNvSpPr/>
          <p:nvPr/>
        </p:nvSpPr>
        <p:spPr>
          <a:xfrm>
            <a:off x="691396" y="1729022"/>
            <a:ext cx="13247608" cy="29170"/>
          </a:xfrm>
          <a:prstGeom prst="rect">
            <a:avLst/>
          </a:prstGeom>
          <a:solidFill>
            <a:srgbClr val="2B4150">
              <a:alpha val="50000"/>
            </a:srgbClr>
          </a:solidFill>
          <a:ln/>
        </p:spPr>
        <p:txBody>
          <a:bodyPr/>
          <a:lstStyle/>
          <a:p>
            <a:endParaRPr lang="en-US"/>
          </a:p>
        </p:txBody>
      </p:sp>
      <p:sp>
        <p:nvSpPr>
          <p:cNvPr id="4" name="Text 2"/>
          <p:cNvSpPr/>
          <p:nvPr/>
        </p:nvSpPr>
        <p:spPr>
          <a:xfrm>
            <a:off x="2270700" y="3006942"/>
            <a:ext cx="2160746" cy="270034"/>
          </a:xfrm>
          <a:prstGeom prst="rect">
            <a:avLst/>
          </a:prstGeom>
          <a:noFill/>
          <a:ln/>
        </p:spPr>
        <p:txBody>
          <a:bodyPr wrap="none" lIns="0" tIns="0" rIns="0" bIns="0" rtlCol="0" anchor="t"/>
          <a:lstStyle/>
          <a:p>
            <a:pPr marL="0" indent="0" algn="ctr">
              <a:lnSpc>
                <a:spcPts val="2100"/>
              </a:lnSpc>
              <a:buNone/>
            </a:pPr>
            <a:r>
              <a:rPr lang="en-US" sz="2500" b="1" dirty="0">
                <a:solidFill>
                  <a:srgbClr val="124E73"/>
                </a:solidFill>
                <a:latin typeface="MuseoModerno Medium" pitchFamily="34" charset="0"/>
                <a:ea typeface="MuseoModerno Medium" pitchFamily="34" charset="-122"/>
                <a:cs typeface="MuseoModerno Medium" pitchFamily="34" charset="-120"/>
              </a:rPr>
              <a:t>Đối Tượng Mục Tiêu</a:t>
            </a:r>
            <a:endParaRPr lang="en-US" sz="2500" b="1" dirty="0"/>
          </a:p>
        </p:txBody>
      </p:sp>
      <p:sp>
        <p:nvSpPr>
          <p:cNvPr id="5" name="Text 3"/>
          <p:cNvSpPr/>
          <p:nvPr/>
        </p:nvSpPr>
        <p:spPr>
          <a:xfrm>
            <a:off x="691396" y="3392567"/>
            <a:ext cx="5319355" cy="776168"/>
          </a:xfrm>
          <a:prstGeom prst="rect">
            <a:avLst/>
          </a:prstGeom>
          <a:noFill/>
          <a:ln/>
        </p:spPr>
        <p:txBody>
          <a:bodyPr wrap="square" lIns="0" tIns="0" rIns="0" bIns="0" rtlCol="0" anchor="t"/>
          <a:lstStyle/>
          <a:p>
            <a:pPr marL="0" indent="0" algn="l">
              <a:lnSpc>
                <a:spcPts val="2000"/>
              </a:lnSpc>
              <a:buNone/>
            </a:pPr>
            <a:r>
              <a:rPr lang="en-US" sz="1600" dirty="0">
                <a:solidFill>
                  <a:srgbClr val="2B4150"/>
                </a:solidFill>
                <a:latin typeface="Source Sans 3" pitchFamily="34" charset="0"/>
                <a:ea typeface="Source Sans 3" pitchFamily="34" charset="-122"/>
                <a:cs typeface="Source Sans 3" pitchFamily="34" charset="-120"/>
              </a:rPr>
              <a:t>Người có thói quen đọc báo/tạp chí giấy hằng ngày, hoặc cơ quan/văn phòng cần đặt báo định kỳ. Khách hàng ưu tiên xem nhanh trang bìa, biết giá và chọn gói dài hạn theo tháng</a:t>
            </a:r>
            <a:r>
              <a:rPr lang="en-US" sz="1350" dirty="0">
                <a:solidFill>
                  <a:srgbClr val="2B4150"/>
                </a:solidFill>
                <a:latin typeface="Source Sans 3" pitchFamily="34" charset="0"/>
                <a:ea typeface="Source Sans 3" pitchFamily="34" charset="-122"/>
                <a:cs typeface="Source Sans 3" pitchFamily="34" charset="-120"/>
              </a:rPr>
              <a:t>.</a:t>
            </a:r>
            <a:endParaRPr lang="en-US" sz="1350" dirty="0"/>
          </a:p>
        </p:txBody>
      </p:sp>
      <p:sp>
        <p:nvSpPr>
          <p:cNvPr id="6" name="Shape 4"/>
          <p:cNvSpPr/>
          <p:nvPr/>
        </p:nvSpPr>
        <p:spPr>
          <a:xfrm>
            <a:off x="691396" y="4338042"/>
            <a:ext cx="5319355" cy="1634490"/>
          </a:xfrm>
          <a:prstGeom prst="roundRect">
            <a:avLst>
              <a:gd name="adj" fmla="val 1586"/>
            </a:avLst>
          </a:prstGeom>
          <a:solidFill>
            <a:srgbClr val="C9DDE9"/>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64156" y="4548306"/>
            <a:ext cx="270034" cy="215979"/>
          </a:xfrm>
          <a:prstGeom prst="rect">
            <a:avLst/>
          </a:prstGeom>
        </p:spPr>
      </p:pic>
      <p:sp>
        <p:nvSpPr>
          <p:cNvPr id="8" name="Text 5"/>
          <p:cNvSpPr/>
          <p:nvPr/>
        </p:nvSpPr>
        <p:spPr>
          <a:xfrm>
            <a:off x="1306949" y="4531637"/>
            <a:ext cx="2160746" cy="270034"/>
          </a:xfrm>
          <a:prstGeom prst="rect">
            <a:avLst/>
          </a:prstGeom>
          <a:noFill/>
          <a:ln/>
        </p:spPr>
        <p:txBody>
          <a:bodyPr wrap="none" lIns="0" tIns="0" rIns="0" bIns="0" rtlCol="0" anchor="t"/>
          <a:lstStyle/>
          <a:p>
            <a:pPr marL="0" indent="0" algn="l">
              <a:lnSpc>
                <a:spcPts val="2100"/>
              </a:lnSpc>
              <a:buNone/>
            </a:pPr>
            <a:r>
              <a:rPr lang="en-US" sz="1700" b="1" dirty="0">
                <a:solidFill>
                  <a:srgbClr val="000000"/>
                </a:solidFill>
                <a:latin typeface="MuseoModerno Medium" pitchFamily="34" charset="0"/>
                <a:ea typeface="MuseoModerno Medium" pitchFamily="34" charset="-122"/>
                <a:cs typeface="MuseoModerno Medium" pitchFamily="34" charset="-120"/>
              </a:rPr>
              <a:t>Bố Cục Giao Diện</a:t>
            </a:r>
            <a:endParaRPr lang="en-US" sz="1700" b="1" dirty="0"/>
          </a:p>
        </p:txBody>
      </p:sp>
      <p:sp>
        <p:nvSpPr>
          <p:cNvPr id="9" name="Text 6"/>
          <p:cNvSpPr/>
          <p:nvPr/>
        </p:nvSpPr>
        <p:spPr>
          <a:xfrm>
            <a:off x="1306949" y="4952166"/>
            <a:ext cx="4531043" cy="881420"/>
          </a:xfrm>
          <a:prstGeom prst="rect">
            <a:avLst/>
          </a:prstGeom>
          <a:noFill/>
          <a:ln/>
        </p:spPr>
        <p:txBody>
          <a:bodyPr wrap="square" lIns="0" tIns="0" rIns="0" bIns="0" rtlCol="0" anchor="t"/>
          <a:lstStyle/>
          <a:p>
            <a:pPr marL="342900" indent="-342900" algn="l">
              <a:lnSpc>
                <a:spcPts val="2000"/>
              </a:lnSpc>
              <a:buSzPct val="100000"/>
              <a:buChar char="•"/>
            </a:pPr>
            <a:r>
              <a:rPr lang="en-US" sz="1350" b="1" dirty="0">
                <a:solidFill>
                  <a:srgbClr val="000000"/>
                </a:solidFill>
                <a:latin typeface="Source Sans 3" pitchFamily="34" charset="0"/>
                <a:ea typeface="Source Sans 3" pitchFamily="34" charset="-122"/>
                <a:cs typeface="Source Sans 3" pitchFamily="34" charset="-120"/>
              </a:rPr>
              <a:t>Header:</a:t>
            </a:r>
            <a:r>
              <a:rPr lang="en-US" sz="1350" dirty="0">
                <a:solidFill>
                  <a:srgbClr val="000000"/>
                </a:solidFill>
                <a:latin typeface="Source Sans 3" pitchFamily="34" charset="0"/>
                <a:ea typeface="Source Sans 3" pitchFamily="34" charset="-122"/>
                <a:cs typeface="Source Sans 3" pitchFamily="34" charset="-120"/>
              </a:rPr>
              <a:t> Logo, Menu, Tìm kiếm, Giỏ hàng, Đăng nhập</a:t>
            </a:r>
            <a:endParaRPr lang="en-US" sz="1350" dirty="0"/>
          </a:p>
          <a:p>
            <a:pPr marL="342900" indent="-342900" algn="l">
              <a:lnSpc>
                <a:spcPts val="2000"/>
              </a:lnSpc>
              <a:buSzPct val="100000"/>
              <a:buChar char="•"/>
            </a:pPr>
            <a:r>
              <a:rPr lang="en-US" sz="1350" b="1" dirty="0">
                <a:solidFill>
                  <a:srgbClr val="000000"/>
                </a:solidFill>
                <a:latin typeface="Source Sans 3" pitchFamily="34" charset="0"/>
                <a:ea typeface="Source Sans 3" pitchFamily="34" charset="-122"/>
                <a:cs typeface="Source Sans 3" pitchFamily="34" charset="-120"/>
              </a:rPr>
              <a:t>Main Content:</a:t>
            </a:r>
            <a:r>
              <a:rPr lang="en-US" sz="1350" dirty="0">
                <a:solidFill>
                  <a:srgbClr val="000000"/>
                </a:solidFill>
                <a:latin typeface="Source Sans 3" pitchFamily="34" charset="0"/>
                <a:ea typeface="Source Sans 3" pitchFamily="34" charset="-122"/>
                <a:cs typeface="Source Sans 3" pitchFamily="34" charset="-120"/>
              </a:rPr>
              <a:t> 2 cột — Sidebar gợi ý + Grid sản phẩm</a:t>
            </a:r>
            <a:endParaRPr lang="en-US" sz="1350" dirty="0"/>
          </a:p>
          <a:p>
            <a:pPr marL="342900" indent="-342900" algn="l">
              <a:lnSpc>
                <a:spcPts val="2000"/>
              </a:lnSpc>
              <a:buSzPct val="100000"/>
              <a:buChar char="•"/>
            </a:pPr>
            <a:r>
              <a:rPr lang="en-US" sz="1350" b="1" dirty="0">
                <a:solidFill>
                  <a:srgbClr val="000000"/>
                </a:solidFill>
                <a:latin typeface="Source Sans 3" pitchFamily="34" charset="0"/>
                <a:ea typeface="Source Sans 3" pitchFamily="34" charset="-122"/>
                <a:cs typeface="Source Sans 3" pitchFamily="34" charset="-120"/>
              </a:rPr>
              <a:t>Footer:</a:t>
            </a:r>
            <a:r>
              <a:rPr lang="en-US" sz="1350" dirty="0">
                <a:solidFill>
                  <a:srgbClr val="000000"/>
                </a:solidFill>
                <a:latin typeface="Source Sans 3" pitchFamily="34" charset="0"/>
                <a:ea typeface="Source Sans 3" pitchFamily="34" charset="-122"/>
                <a:cs typeface="Source Sans 3" pitchFamily="34" charset="-120"/>
              </a:rPr>
              <a:t> Thông tin bản quyền nhóm</a:t>
            </a:r>
            <a:endParaRPr lang="en-US" sz="1350" dirty="0"/>
          </a:p>
        </p:txBody>
      </p:sp>
      <p:sp>
        <p:nvSpPr>
          <p:cNvPr id="10" name="Shape 7"/>
          <p:cNvSpPr/>
          <p:nvPr/>
        </p:nvSpPr>
        <p:spPr>
          <a:xfrm>
            <a:off x="6315551" y="1927384"/>
            <a:ext cx="7755493" cy="5500687"/>
          </a:xfrm>
          <a:prstGeom prst="roundRect">
            <a:avLst>
              <a:gd name="adj" fmla="val 471"/>
            </a:avLst>
          </a:prstGeom>
          <a:solidFill>
            <a:srgbClr val="325F7B"/>
          </a:solidFill>
          <a:ln/>
        </p:spPr>
        <p:txBody>
          <a:bodyPr/>
          <a:lstStyle/>
          <a:p>
            <a:endParaRPr lang="en-US"/>
          </a:p>
        </p:txBody>
      </p:sp>
      <p:sp>
        <p:nvSpPr>
          <p:cNvPr id="11" name="Text 8"/>
          <p:cNvSpPr/>
          <p:nvPr/>
        </p:nvSpPr>
        <p:spPr>
          <a:xfrm>
            <a:off x="6488311" y="2077879"/>
            <a:ext cx="2190512" cy="270034"/>
          </a:xfrm>
          <a:prstGeom prst="rect">
            <a:avLst/>
          </a:prstGeom>
          <a:noFill/>
          <a:ln/>
        </p:spPr>
        <p:txBody>
          <a:bodyPr wrap="none" lIns="0" tIns="0" rIns="0" bIns="0" rtlCol="0" anchor="t"/>
          <a:lstStyle/>
          <a:p>
            <a:pPr marL="0" indent="0" algn="l">
              <a:lnSpc>
                <a:spcPts val="2100"/>
              </a:lnSpc>
              <a:buNone/>
            </a:pPr>
            <a:r>
              <a:rPr lang="en-US" sz="1700" b="1" dirty="0">
                <a:solidFill>
                  <a:srgbClr val="FFFFFF"/>
                </a:solidFill>
                <a:latin typeface="MuseoModerno Medium" pitchFamily="34" charset="0"/>
                <a:ea typeface="MuseoModerno Medium" pitchFamily="34" charset="-122"/>
                <a:cs typeface="MuseoModerno Medium" pitchFamily="34" charset="-120"/>
              </a:rPr>
              <a:t>Sitemap &amp; User Flow</a:t>
            </a:r>
            <a:endParaRPr lang="en-US" sz="1700" b="1" dirty="0"/>
          </a:p>
        </p:txBody>
      </p:sp>
      <p:sp>
        <p:nvSpPr>
          <p:cNvPr id="12" name="Shape 9"/>
          <p:cNvSpPr/>
          <p:nvPr/>
        </p:nvSpPr>
        <p:spPr>
          <a:xfrm>
            <a:off x="6488311" y="2776418"/>
            <a:ext cx="3629739" cy="1220986"/>
          </a:xfrm>
          <a:prstGeom prst="roundRect">
            <a:avLst>
              <a:gd name="adj" fmla="val 2124"/>
            </a:avLst>
          </a:prstGeom>
          <a:solidFill>
            <a:srgbClr val="325F7B"/>
          </a:solidFill>
          <a:ln w="22860">
            <a:solidFill>
              <a:srgbClr val="D9D4C9"/>
            </a:solidFill>
            <a:prstDash val="solid"/>
          </a:ln>
        </p:spPr>
        <p:txBody>
          <a:bodyPr/>
          <a:lstStyle/>
          <a:p>
            <a:endParaRPr lang="en-US"/>
          </a:p>
        </p:txBody>
      </p:sp>
      <p:sp>
        <p:nvSpPr>
          <p:cNvPr id="13" name="Shape 10"/>
          <p:cNvSpPr/>
          <p:nvPr/>
        </p:nvSpPr>
        <p:spPr>
          <a:xfrm>
            <a:off x="6511171" y="2799278"/>
            <a:ext cx="3584019" cy="172760"/>
          </a:xfrm>
          <a:prstGeom prst="rect">
            <a:avLst/>
          </a:prstGeom>
          <a:solidFill>
            <a:srgbClr val="F3EEE3"/>
          </a:solidFill>
          <a:ln/>
        </p:spPr>
        <p:txBody>
          <a:bodyPr/>
          <a:lstStyle/>
          <a:p>
            <a:endParaRPr lang="en-US"/>
          </a:p>
        </p:txBody>
      </p:sp>
      <p:sp>
        <p:nvSpPr>
          <p:cNvPr id="14" name="Text 11"/>
          <p:cNvSpPr/>
          <p:nvPr/>
        </p:nvSpPr>
        <p:spPr>
          <a:xfrm>
            <a:off x="6683931" y="3122533"/>
            <a:ext cx="2160746" cy="270034"/>
          </a:xfrm>
          <a:prstGeom prst="rect">
            <a:avLst/>
          </a:prstGeom>
          <a:noFill/>
          <a:ln/>
        </p:spPr>
        <p:txBody>
          <a:bodyPr wrap="none" lIns="0" tIns="0" rIns="0" bIns="0" rtlCol="0" anchor="t"/>
          <a:lstStyle/>
          <a:p>
            <a:pPr marL="0" indent="0" algn="l">
              <a:lnSpc>
                <a:spcPts val="2100"/>
              </a:lnSpc>
              <a:buNone/>
            </a:pPr>
            <a:r>
              <a:rPr lang="en-US" sz="1700" b="1" dirty="0">
                <a:solidFill>
                  <a:srgbClr val="FFFFFF"/>
                </a:solidFill>
                <a:latin typeface="MuseoModerno Medium" pitchFamily="34" charset="0"/>
                <a:ea typeface="MuseoModerno Medium" pitchFamily="34" charset="-122"/>
                <a:cs typeface="MuseoModerno Medium" pitchFamily="34" charset="-120"/>
              </a:rPr>
              <a:t>Trang Chủ</a:t>
            </a:r>
            <a:endParaRPr lang="en-US" sz="1700" b="1" dirty="0"/>
          </a:p>
        </p:txBody>
      </p:sp>
      <p:sp>
        <p:nvSpPr>
          <p:cNvPr id="15" name="Text 12"/>
          <p:cNvSpPr/>
          <p:nvPr/>
        </p:nvSpPr>
        <p:spPr>
          <a:xfrm>
            <a:off x="6683931" y="3543062"/>
            <a:ext cx="3238500" cy="258723"/>
          </a:xfrm>
          <a:prstGeom prst="rect">
            <a:avLst/>
          </a:prstGeom>
          <a:noFill/>
          <a:ln/>
        </p:spPr>
        <p:txBody>
          <a:bodyPr wrap="none" lIns="0" tIns="0" rIns="0" bIns="0" rtlCol="0" anchor="t"/>
          <a:lstStyle/>
          <a:p>
            <a:pPr marL="0" indent="0" algn="l">
              <a:lnSpc>
                <a:spcPts val="2000"/>
              </a:lnSpc>
              <a:buNone/>
            </a:pPr>
            <a:r>
              <a:rPr lang="en-US" sz="1350" dirty="0">
                <a:solidFill>
                  <a:srgbClr val="FFFFFF"/>
                </a:solidFill>
                <a:latin typeface="Source Sans 3" pitchFamily="34" charset="0"/>
                <a:ea typeface="Source Sans 3" pitchFamily="34" charset="-122"/>
                <a:cs typeface="Source Sans 3" pitchFamily="34" charset="-120"/>
              </a:rPr>
              <a:t>Banner quảng cáo, điều hướng tổng quát</a:t>
            </a:r>
            <a:endParaRPr lang="en-US" sz="1350" dirty="0"/>
          </a:p>
        </p:txBody>
      </p:sp>
      <p:sp>
        <p:nvSpPr>
          <p:cNvPr id="16" name="Shape 13"/>
          <p:cNvSpPr/>
          <p:nvPr/>
        </p:nvSpPr>
        <p:spPr>
          <a:xfrm>
            <a:off x="10268545" y="2517219"/>
            <a:ext cx="3629739" cy="1480185"/>
          </a:xfrm>
          <a:prstGeom prst="roundRect">
            <a:avLst>
              <a:gd name="adj" fmla="val 1752"/>
            </a:avLst>
          </a:prstGeom>
          <a:solidFill>
            <a:srgbClr val="325F7B"/>
          </a:solidFill>
          <a:ln w="22860">
            <a:solidFill>
              <a:srgbClr val="D9D4C9"/>
            </a:solidFill>
            <a:prstDash val="solid"/>
          </a:ln>
        </p:spPr>
        <p:txBody>
          <a:bodyPr/>
          <a:lstStyle/>
          <a:p>
            <a:endParaRPr lang="en-US"/>
          </a:p>
        </p:txBody>
      </p:sp>
      <p:sp>
        <p:nvSpPr>
          <p:cNvPr id="17" name="Shape 14"/>
          <p:cNvSpPr/>
          <p:nvPr/>
        </p:nvSpPr>
        <p:spPr>
          <a:xfrm>
            <a:off x="10291405" y="2540079"/>
            <a:ext cx="3584019" cy="172760"/>
          </a:xfrm>
          <a:prstGeom prst="rect">
            <a:avLst/>
          </a:prstGeom>
          <a:solidFill>
            <a:srgbClr val="F3EEE3"/>
          </a:solidFill>
          <a:ln/>
        </p:spPr>
        <p:txBody>
          <a:bodyPr/>
          <a:lstStyle/>
          <a:p>
            <a:endParaRPr lang="en-US"/>
          </a:p>
        </p:txBody>
      </p:sp>
      <p:sp>
        <p:nvSpPr>
          <p:cNvPr id="18" name="Text 15"/>
          <p:cNvSpPr/>
          <p:nvPr/>
        </p:nvSpPr>
        <p:spPr>
          <a:xfrm>
            <a:off x="10464165" y="2863334"/>
            <a:ext cx="2160746" cy="270034"/>
          </a:xfrm>
          <a:prstGeom prst="rect">
            <a:avLst/>
          </a:prstGeom>
          <a:noFill/>
          <a:ln/>
        </p:spPr>
        <p:txBody>
          <a:bodyPr wrap="none" lIns="0" tIns="0" rIns="0" bIns="0" rtlCol="0" anchor="t"/>
          <a:lstStyle/>
          <a:p>
            <a:pPr marL="0" indent="0" algn="l">
              <a:lnSpc>
                <a:spcPts val="2100"/>
              </a:lnSpc>
              <a:buNone/>
            </a:pPr>
            <a:r>
              <a:rPr lang="en-US" sz="1700" b="1" dirty="0">
                <a:solidFill>
                  <a:srgbClr val="FFFFFF"/>
                </a:solidFill>
                <a:latin typeface="MuseoModerno Medium" pitchFamily="34" charset="0"/>
                <a:ea typeface="MuseoModerno Medium" pitchFamily="34" charset="-122"/>
                <a:cs typeface="MuseoModerno Medium" pitchFamily="34" charset="-120"/>
              </a:rPr>
              <a:t>Báo Hằng Ngày</a:t>
            </a:r>
            <a:endParaRPr lang="en-US" sz="1700" b="1" dirty="0"/>
          </a:p>
        </p:txBody>
      </p:sp>
      <p:sp>
        <p:nvSpPr>
          <p:cNvPr id="19" name="Text 16"/>
          <p:cNvSpPr/>
          <p:nvPr/>
        </p:nvSpPr>
        <p:spPr>
          <a:xfrm>
            <a:off x="10464165" y="3283863"/>
            <a:ext cx="3238500" cy="258723"/>
          </a:xfrm>
          <a:prstGeom prst="rect">
            <a:avLst/>
          </a:prstGeom>
          <a:noFill/>
          <a:ln/>
        </p:spPr>
        <p:txBody>
          <a:bodyPr wrap="none" lIns="0" tIns="0" rIns="0" bIns="0" rtlCol="0" anchor="t"/>
          <a:lstStyle/>
          <a:p>
            <a:pPr marL="0" indent="0" algn="l">
              <a:lnSpc>
                <a:spcPts val="2000"/>
              </a:lnSpc>
              <a:buNone/>
            </a:pPr>
            <a:r>
              <a:rPr lang="en-US" sz="1350" dirty="0">
                <a:solidFill>
                  <a:srgbClr val="FFFFFF"/>
                </a:solidFill>
                <a:latin typeface="Source Sans 3" pitchFamily="34" charset="0"/>
                <a:ea typeface="Source Sans 3" pitchFamily="34" charset="-122"/>
                <a:cs typeface="Source Sans 3" pitchFamily="34" charset="-120"/>
              </a:rPr>
              <a:t>Duyệt ấn phẩm, thêm vào giỏ / mua ngay</a:t>
            </a:r>
            <a:endParaRPr lang="en-US" sz="1350" dirty="0"/>
          </a:p>
        </p:txBody>
      </p:sp>
      <p:sp>
        <p:nvSpPr>
          <p:cNvPr id="20" name="Shape 17"/>
          <p:cNvSpPr/>
          <p:nvPr/>
        </p:nvSpPr>
        <p:spPr>
          <a:xfrm>
            <a:off x="6488311" y="4407098"/>
            <a:ext cx="3629739" cy="1220986"/>
          </a:xfrm>
          <a:prstGeom prst="roundRect">
            <a:avLst>
              <a:gd name="adj" fmla="val 2124"/>
            </a:avLst>
          </a:prstGeom>
          <a:solidFill>
            <a:srgbClr val="325F7B"/>
          </a:solidFill>
          <a:ln w="22860">
            <a:solidFill>
              <a:srgbClr val="D9D4C9"/>
            </a:solidFill>
            <a:prstDash val="solid"/>
          </a:ln>
        </p:spPr>
        <p:txBody>
          <a:bodyPr/>
          <a:lstStyle/>
          <a:p>
            <a:endParaRPr lang="en-US"/>
          </a:p>
        </p:txBody>
      </p:sp>
      <p:sp>
        <p:nvSpPr>
          <p:cNvPr id="21" name="Shape 18"/>
          <p:cNvSpPr/>
          <p:nvPr/>
        </p:nvSpPr>
        <p:spPr>
          <a:xfrm>
            <a:off x="6511171" y="4429958"/>
            <a:ext cx="3584019" cy="172760"/>
          </a:xfrm>
          <a:prstGeom prst="rect">
            <a:avLst/>
          </a:prstGeom>
          <a:solidFill>
            <a:srgbClr val="F3EEE3"/>
          </a:solidFill>
          <a:ln/>
        </p:spPr>
        <p:txBody>
          <a:bodyPr/>
          <a:lstStyle/>
          <a:p>
            <a:endParaRPr lang="en-US"/>
          </a:p>
        </p:txBody>
      </p:sp>
      <p:sp>
        <p:nvSpPr>
          <p:cNvPr id="22" name="Text 19"/>
          <p:cNvSpPr/>
          <p:nvPr/>
        </p:nvSpPr>
        <p:spPr>
          <a:xfrm>
            <a:off x="6683931" y="4753213"/>
            <a:ext cx="2160746" cy="270034"/>
          </a:xfrm>
          <a:prstGeom prst="rect">
            <a:avLst/>
          </a:prstGeom>
          <a:noFill/>
          <a:ln/>
        </p:spPr>
        <p:txBody>
          <a:bodyPr wrap="none" lIns="0" tIns="0" rIns="0" bIns="0" rtlCol="0" anchor="t"/>
          <a:lstStyle/>
          <a:p>
            <a:pPr marL="0" indent="0" algn="l">
              <a:lnSpc>
                <a:spcPts val="2100"/>
              </a:lnSpc>
              <a:buNone/>
            </a:pPr>
            <a:r>
              <a:rPr lang="en-US" sz="1700" b="1" dirty="0">
                <a:solidFill>
                  <a:srgbClr val="FFFFFF"/>
                </a:solidFill>
                <a:latin typeface="MuseoModerno Medium" pitchFamily="34" charset="0"/>
                <a:ea typeface="MuseoModerno Medium" pitchFamily="34" charset="-122"/>
                <a:cs typeface="MuseoModerno Medium" pitchFamily="34" charset="-120"/>
              </a:rPr>
              <a:t>Chi Tiết Báo</a:t>
            </a:r>
            <a:endParaRPr lang="en-US" sz="1700" b="1" dirty="0"/>
          </a:p>
        </p:txBody>
      </p:sp>
      <p:sp>
        <p:nvSpPr>
          <p:cNvPr id="23" name="Text 20"/>
          <p:cNvSpPr/>
          <p:nvPr/>
        </p:nvSpPr>
        <p:spPr>
          <a:xfrm>
            <a:off x="6683931" y="5173742"/>
            <a:ext cx="3238500" cy="258723"/>
          </a:xfrm>
          <a:prstGeom prst="rect">
            <a:avLst/>
          </a:prstGeom>
          <a:noFill/>
          <a:ln/>
        </p:spPr>
        <p:txBody>
          <a:bodyPr wrap="none" lIns="0" tIns="0" rIns="0" bIns="0" rtlCol="0" anchor="t"/>
          <a:lstStyle/>
          <a:p>
            <a:pPr marL="0" indent="0" algn="l">
              <a:lnSpc>
                <a:spcPts val="2000"/>
              </a:lnSpc>
              <a:buNone/>
            </a:pPr>
            <a:r>
              <a:rPr lang="en-US" sz="1350" dirty="0">
                <a:solidFill>
                  <a:srgbClr val="FFFFFF"/>
                </a:solidFill>
                <a:latin typeface="Source Sans 3" pitchFamily="34" charset="0"/>
                <a:ea typeface="Source Sans 3" pitchFamily="34" charset="-122"/>
                <a:cs typeface="Source Sans 3" pitchFamily="34" charset="-120"/>
              </a:rPr>
              <a:t>Thông tin chi tiết từng ấn phẩm</a:t>
            </a:r>
            <a:endParaRPr lang="en-US" sz="1350" dirty="0"/>
          </a:p>
        </p:txBody>
      </p:sp>
      <p:sp>
        <p:nvSpPr>
          <p:cNvPr id="24" name="Shape 21"/>
          <p:cNvSpPr/>
          <p:nvPr/>
        </p:nvSpPr>
        <p:spPr>
          <a:xfrm>
            <a:off x="10268545" y="4147899"/>
            <a:ext cx="3629739" cy="1480185"/>
          </a:xfrm>
          <a:prstGeom prst="roundRect">
            <a:avLst>
              <a:gd name="adj" fmla="val 1752"/>
            </a:avLst>
          </a:prstGeom>
          <a:solidFill>
            <a:srgbClr val="325F7B"/>
          </a:solidFill>
          <a:ln w="22860">
            <a:solidFill>
              <a:srgbClr val="D9D4C9"/>
            </a:solidFill>
            <a:prstDash val="solid"/>
          </a:ln>
        </p:spPr>
        <p:txBody>
          <a:bodyPr/>
          <a:lstStyle/>
          <a:p>
            <a:endParaRPr lang="en-US"/>
          </a:p>
        </p:txBody>
      </p:sp>
      <p:sp>
        <p:nvSpPr>
          <p:cNvPr id="25" name="Shape 22"/>
          <p:cNvSpPr/>
          <p:nvPr/>
        </p:nvSpPr>
        <p:spPr>
          <a:xfrm>
            <a:off x="10291405" y="4170759"/>
            <a:ext cx="3584019" cy="172760"/>
          </a:xfrm>
          <a:prstGeom prst="rect">
            <a:avLst/>
          </a:prstGeom>
          <a:solidFill>
            <a:srgbClr val="F3EEE3"/>
          </a:solidFill>
          <a:ln/>
        </p:spPr>
        <p:txBody>
          <a:bodyPr/>
          <a:lstStyle/>
          <a:p>
            <a:endParaRPr lang="en-US"/>
          </a:p>
        </p:txBody>
      </p:sp>
      <p:sp>
        <p:nvSpPr>
          <p:cNvPr id="26" name="Text 23"/>
          <p:cNvSpPr/>
          <p:nvPr/>
        </p:nvSpPr>
        <p:spPr>
          <a:xfrm>
            <a:off x="10464165" y="4494014"/>
            <a:ext cx="2160746" cy="270034"/>
          </a:xfrm>
          <a:prstGeom prst="rect">
            <a:avLst/>
          </a:prstGeom>
          <a:noFill/>
          <a:ln/>
        </p:spPr>
        <p:txBody>
          <a:bodyPr wrap="none" lIns="0" tIns="0" rIns="0" bIns="0" rtlCol="0" anchor="t"/>
          <a:lstStyle/>
          <a:p>
            <a:pPr marL="0" indent="0" algn="l">
              <a:lnSpc>
                <a:spcPts val="2100"/>
              </a:lnSpc>
              <a:buNone/>
            </a:pPr>
            <a:r>
              <a:rPr lang="en-US" sz="1700" b="1" dirty="0">
                <a:solidFill>
                  <a:srgbClr val="FFFFFF"/>
                </a:solidFill>
                <a:latin typeface="MuseoModerno Medium" pitchFamily="34" charset="0"/>
                <a:ea typeface="MuseoModerno Medium" pitchFamily="34" charset="-122"/>
                <a:cs typeface="MuseoModerno Medium" pitchFamily="34" charset="-120"/>
              </a:rPr>
              <a:t>Giỏ Hàng</a:t>
            </a:r>
            <a:endParaRPr lang="en-US" sz="1700" b="1" dirty="0"/>
          </a:p>
        </p:txBody>
      </p:sp>
      <p:sp>
        <p:nvSpPr>
          <p:cNvPr id="27" name="Text 24"/>
          <p:cNvSpPr/>
          <p:nvPr/>
        </p:nvSpPr>
        <p:spPr>
          <a:xfrm>
            <a:off x="10464165" y="4914543"/>
            <a:ext cx="3238500" cy="258723"/>
          </a:xfrm>
          <a:prstGeom prst="rect">
            <a:avLst/>
          </a:prstGeom>
          <a:noFill/>
          <a:ln/>
        </p:spPr>
        <p:txBody>
          <a:bodyPr wrap="none" lIns="0" tIns="0" rIns="0" bIns="0" rtlCol="0" anchor="t"/>
          <a:lstStyle/>
          <a:p>
            <a:pPr marL="0" indent="0" algn="l">
              <a:lnSpc>
                <a:spcPts val="2000"/>
              </a:lnSpc>
              <a:buNone/>
            </a:pPr>
            <a:r>
              <a:rPr lang="en-US" sz="1350" dirty="0">
                <a:solidFill>
                  <a:srgbClr val="FFFFFF"/>
                </a:solidFill>
                <a:latin typeface="Source Sans 3" pitchFamily="34" charset="0"/>
                <a:ea typeface="Source Sans 3" pitchFamily="34" charset="-122"/>
                <a:cs typeface="Source Sans 3" pitchFamily="34" charset="-120"/>
              </a:rPr>
              <a:t>Kiểm tra, điều chỉnh, xem tổng hóa đơn</a:t>
            </a:r>
            <a:endParaRPr lang="en-US" sz="1350" dirty="0"/>
          </a:p>
        </p:txBody>
      </p:sp>
      <p:sp>
        <p:nvSpPr>
          <p:cNvPr id="28" name="Shape 25"/>
          <p:cNvSpPr/>
          <p:nvPr/>
        </p:nvSpPr>
        <p:spPr>
          <a:xfrm>
            <a:off x="6488311" y="6037778"/>
            <a:ext cx="3629739" cy="1220986"/>
          </a:xfrm>
          <a:prstGeom prst="roundRect">
            <a:avLst>
              <a:gd name="adj" fmla="val 2124"/>
            </a:avLst>
          </a:prstGeom>
          <a:solidFill>
            <a:srgbClr val="325F7B"/>
          </a:solidFill>
          <a:ln w="22860">
            <a:solidFill>
              <a:srgbClr val="D9D4C9"/>
            </a:solidFill>
            <a:prstDash val="solid"/>
          </a:ln>
        </p:spPr>
        <p:txBody>
          <a:bodyPr/>
          <a:lstStyle/>
          <a:p>
            <a:endParaRPr lang="en-US"/>
          </a:p>
        </p:txBody>
      </p:sp>
      <p:sp>
        <p:nvSpPr>
          <p:cNvPr id="29" name="Shape 26"/>
          <p:cNvSpPr/>
          <p:nvPr/>
        </p:nvSpPr>
        <p:spPr>
          <a:xfrm>
            <a:off x="6511171" y="6060638"/>
            <a:ext cx="3584019" cy="172760"/>
          </a:xfrm>
          <a:prstGeom prst="rect">
            <a:avLst/>
          </a:prstGeom>
          <a:solidFill>
            <a:srgbClr val="F3EEE3"/>
          </a:solidFill>
          <a:ln/>
        </p:spPr>
        <p:txBody>
          <a:bodyPr/>
          <a:lstStyle/>
          <a:p>
            <a:endParaRPr lang="en-US"/>
          </a:p>
        </p:txBody>
      </p:sp>
      <p:sp>
        <p:nvSpPr>
          <p:cNvPr id="30" name="Text 27"/>
          <p:cNvSpPr/>
          <p:nvPr/>
        </p:nvSpPr>
        <p:spPr>
          <a:xfrm>
            <a:off x="6683931" y="6383893"/>
            <a:ext cx="2160746" cy="270034"/>
          </a:xfrm>
          <a:prstGeom prst="rect">
            <a:avLst/>
          </a:prstGeom>
          <a:noFill/>
          <a:ln/>
        </p:spPr>
        <p:txBody>
          <a:bodyPr wrap="none" lIns="0" tIns="0" rIns="0" bIns="0" rtlCol="0" anchor="t"/>
          <a:lstStyle/>
          <a:p>
            <a:pPr marL="0" indent="0" algn="l">
              <a:lnSpc>
                <a:spcPts val="2100"/>
              </a:lnSpc>
              <a:buNone/>
            </a:pPr>
            <a:r>
              <a:rPr lang="en-US" sz="1700" b="1" dirty="0">
                <a:solidFill>
                  <a:srgbClr val="FFFFFF"/>
                </a:solidFill>
                <a:latin typeface="MuseoModerno Medium" pitchFamily="34" charset="0"/>
                <a:ea typeface="MuseoModerno Medium" pitchFamily="34" charset="-122"/>
                <a:cs typeface="MuseoModerno Medium" pitchFamily="34" charset="-120"/>
              </a:rPr>
              <a:t>Đặt Báo</a:t>
            </a:r>
            <a:endParaRPr lang="en-US" sz="1700" b="1" dirty="0"/>
          </a:p>
        </p:txBody>
      </p:sp>
      <p:sp>
        <p:nvSpPr>
          <p:cNvPr id="31" name="Text 28"/>
          <p:cNvSpPr/>
          <p:nvPr/>
        </p:nvSpPr>
        <p:spPr>
          <a:xfrm>
            <a:off x="6683931" y="6804422"/>
            <a:ext cx="3238500" cy="258723"/>
          </a:xfrm>
          <a:prstGeom prst="rect">
            <a:avLst/>
          </a:prstGeom>
          <a:noFill/>
          <a:ln/>
        </p:spPr>
        <p:txBody>
          <a:bodyPr wrap="none" lIns="0" tIns="0" rIns="0" bIns="0" rtlCol="0" anchor="t"/>
          <a:lstStyle/>
          <a:p>
            <a:pPr marL="0" indent="0" algn="l">
              <a:lnSpc>
                <a:spcPts val="2000"/>
              </a:lnSpc>
              <a:buNone/>
            </a:pPr>
            <a:r>
              <a:rPr lang="en-US" sz="1350" dirty="0">
                <a:solidFill>
                  <a:srgbClr val="FFFFFF"/>
                </a:solidFill>
                <a:latin typeface="Source Sans 3" pitchFamily="34" charset="0"/>
                <a:ea typeface="Source Sans 3" pitchFamily="34" charset="-122"/>
                <a:cs typeface="Source Sans 3" pitchFamily="34" charset="-120"/>
              </a:rPr>
              <a:t>Nhập thông tin, chọn gói, xác nhận</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Shape 0"/>
          <p:cNvSpPr/>
          <p:nvPr/>
        </p:nvSpPr>
        <p:spPr>
          <a:xfrm>
            <a:off x="6280190" y="2643307"/>
            <a:ext cx="953453" cy="373142"/>
          </a:xfrm>
          <a:prstGeom prst="roundRect">
            <a:avLst>
              <a:gd name="adj" fmla="val 6383"/>
            </a:avLst>
          </a:prstGeom>
          <a:solidFill>
            <a:srgbClr val="DBE8F0"/>
          </a:solidFill>
          <a:ln/>
        </p:spPr>
        <p:txBody>
          <a:bodyPr/>
          <a:lstStyle/>
          <a:p>
            <a:endParaRPr lang="en-US" b="1"/>
          </a:p>
        </p:txBody>
      </p:sp>
      <p:sp>
        <p:nvSpPr>
          <p:cNvPr id="4" name="Text 1"/>
          <p:cNvSpPr/>
          <p:nvPr/>
        </p:nvSpPr>
        <p:spPr>
          <a:xfrm>
            <a:off x="6399252" y="2702838"/>
            <a:ext cx="715328" cy="254079"/>
          </a:xfrm>
          <a:prstGeom prst="rect">
            <a:avLst/>
          </a:prstGeom>
          <a:noFill/>
          <a:ln/>
        </p:spPr>
        <p:txBody>
          <a:bodyPr wrap="none" lIns="0" tIns="0" rIns="0" bIns="0" rtlCol="0" anchor="t"/>
          <a:lstStyle/>
          <a:p>
            <a:pPr marL="0" indent="0" algn="l">
              <a:lnSpc>
                <a:spcPts val="2000"/>
              </a:lnSpc>
              <a:buNone/>
            </a:pPr>
            <a:r>
              <a:rPr lang="en-US" sz="1250" b="1" dirty="0">
                <a:solidFill>
                  <a:srgbClr val="2B4150"/>
                </a:solidFill>
                <a:latin typeface="Source Sans 3" pitchFamily="34" charset="0"/>
                <a:ea typeface="Source Sans 3" pitchFamily="34" charset="-122"/>
                <a:cs typeface="Source Sans 3" pitchFamily="34" charset="-120"/>
              </a:rPr>
              <a:t>CHƯƠNG 3</a:t>
            </a:r>
            <a:endParaRPr lang="en-US" sz="1250" b="1" dirty="0"/>
          </a:p>
        </p:txBody>
      </p:sp>
      <p:sp>
        <p:nvSpPr>
          <p:cNvPr id="5" name="Text 2"/>
          <p:cNvSpPr/>
          <p:nvPr/>
        </p:nvSpPr>
        <p:spPr>
          <a:xfrm>
            <a:off x="6280190" y="3095744"/>
            <a:ext cx="7556421" cy="1240155"/>
          </a:xfrm>
          <a:prstGeom prst="rect">
            <a:avLst/>
          </a:prstGeom>
          <a:noFill/>
          <a:ln/>
        </p:spPr>
        <p:txBody>
          <a:bodyPr wrap="square" lIns="0" tIns="0" rIns="0" bIns="0" rtlCol="0" anchor="t"/>
          <a:lstStyle/>
          <a:p>
            <a:pPr marL="0" indent="0" algn="ctr">
              <a:lnSpc>
                <a:spcPts val="4850"/>
              </a:lnSpc>
              <a:buNone/>
            </a:pPr>
            <a:r>
              <a:rPr lang="en-US" sz="3900" b="1" dirty="0">
                <a:solidFill>
                  <a:srgbClr val="124E73"/>
                </a:solidFill>
                <a:latin typeface="MuseoModerno Medium" pitchFamily="34" charset="0"/>
                <a:ea typeface="MuseoModerno Medium" pitchFamily="34" charset="-122"/>
                <a:cs typeface="MuseoModerno Medium" pitchFamily="34" charset="-120"/>
              </a:rPr>
              <a:t>Xây Dựng Ứng Dụng — Trang Chủ</a:t>
            </a:r>
            <a:endParaRPr lang="en-US" sz="3900" b="1" dirty="0"/>
          </a:p>
        </p:txBody>
      </p:sp>
      <p:sp>
        <p:nvSpPr>
          <p:cNvPr id="6" name="Text 3"/>
          <p:cNvSpPr/>
          <p:nvPr/>
        </p:nvSpPr>
        <p:spPr>
          <a:xfrm>
            <a:off x="6280190" y="4633555"/>
            <a:ext cx="7556421" cy="952619"/>
          </a:xfrm>
          <a:prstGeom prst="rect">
            <a:avLst/>
          </a:prstGeom>
          <a:noFill/>
          <a:ln/>
        </p:spPr>
        <p:txBody>
          <a:bodyPr wrap="square" lIns="0" tIns="0" rIns="0" bIns="0" rtlCol="0" anchor="t"/>
          <a:lstStyle/>
          <a:p>
            <a:pPr marL="0" indent="0" algn="ctr">
              <a:lnSpc>
                <a:spcPts val="2500"/>
              </a:lnSpc>
              <a:buNone/>
            </a:pPr>
            <a:r>
              <a:rPr lang="en-US" sz="1700" dirty="0">
                <a:solidFill>
                  <a:srgbClr val="2B4150"/>
                </a:solidFill>
                <a:latin typeface="Source Sans 3" pitchFamily="34" charset="0"/>
                <a:ea typeface="Source Sans 3" pitchFamily="34" charset="-122"/>
                <a:cs typeface="Source Sans 3" pitchFamily="34" charset="-120"/>
              </a:rPr>
              <a:t>Trang chủ thu hút người dùng với banner quảng cáo nổi bật, thanh điều hướng tổng quát và thông tin liên hệ. Giao diện sử dụng tông màu ấm, hiện đại, phù hợp phong cách ngành báo chí.</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1903273" y="3174139"/>
            <a:ext cx="5337453" cy="620078"/>
          </a:xfrm>
          <a:prstGeom prst="rect">
            <a:avLst/>
          </a:prstGeom>
          <a:noFill/>
          <a:ln/>
        </p:spPr>
        <p:txBody>
          <a:bodyPr wrap="none" lIns="0" tIns="0" rIns="0" bIns="0" rtlCol="0" anchor="t"/>
          <a:lstStyle/>
          <a:p>
            <a:pPr marL="0" indent="0" algn="l">
              <a:lnSpc>
                <a:spcPts val="4850"/>
              </a:lnSpc>
              <a:buNone/>
            </a:pPr>
            <a:r>
              <a:rPr lang="en-US" sz="3900" b="1" dirty="0">
                <a:solidFill>
                  <a:srgbClr val="124E73"/>
                </a:solidFill>
                <a:latin typeface="MuseoModerno Medium" pitchFamily="34" charset="0"/>
                <a:ea typeface="MuseoModerno Medium" pitchFamily="34" charset="-122"/>
                <a:cs typeface="MuseoModerno Medium" pitchFamily="34" charset="-120"/>
              </a:rPr>
              <a:t>Trang Báo Hằng Ngày</a:t>
            </a:r>
            <a:endParaRPr lang="en-US" sz="3900" b="1" dirty="0"/>
          </a:p>
        </p:txBody>
      </p:sp>
      <p:sp>
        <p:nvSpPr>
          <p:cNvPr id="4" name="Text 1"/>
          <p:cNvSpPr/>
          <p:nvPr/>
        </p:nvSpPr>
        <p:spPr>
          <a:xfrm>
            <a:off x="793790" y="4097298"/>
            <a:ext cx="7556421" cy="952619"/>
          </a:xfrm>
          <a:prstGeom prst="rect">
            <a:avLst/>
          </a:prstGeom>
          <a:noFill/>
          <a:ln/>
        </p:spPr>
        <p:txBody>
          <a:bodyPr wrap="square" lIns="0" tIns="0" rIns="0" bIns="0" rtlCol="0" anchor="t"/>
          <a:lstStyle/>
          <a:p>
            <a:pPr marL="0" indent="0" algn="l">
              <a:lnSpc>
                <a:spcPts val="2500"/>
              </a:lnSpc>
              <a:buNone/>
            </a:pPr>
            <a:r>
              <a:rPr lang="en-US" sz="1700" dirty="0">
                <a:solidFill>
                  <a:srgbClr val="2B4150"/>
                </a:solidFill>
                <a:latin typeface="Source Sans 3" pitchFamily="34" charset="0"/>
                <a:ea typeface="Source Sans 3" pitchFamily="34" charset="-122"/>
                <a:cs typeface="Source Sans 3" pitchFamily="34" charset="-120"/>
              </a:rPr>
              <a:t>Khách hàng duyệt qua các ấn phẩm nổi bật như Nhân Dân, Tuổi Trẻ với bố cục 2 cột: Sidebar gợi ý bên trái và Grid sản phẩm bên phải. Mỗi ấn phẩm hiển thị hình ảnh trang bìa, tên báo và nút </a:t>
            </a:r>
            <a:r>
              <a:rPr lang="en-US" sz="1700" b="1" dirty="0">
                <a:solidFill>
                  <a:srgbClr val="2B4150"/>
                </a:solidFill>
                <a:latin typeface="Source Sans 3" pitchFamily="34" charset="0"/>
                <a:ea typeface="Source Sans 3" pitchFamily="34" charset="-122"/>
                <a:cs typeface="Source Sans 3" pitchFamily="34" charset="-120"/>
              </a:rPr>
              <a:t>"Thêm vào giỏ"</a:t>
            </a:r>
            <a:r>
              <a:rPr lang="en-US" sz="1700" dirty="0">
                <a:solidFill>
                  <a:srgbClr val="2B4150"/>
                </a:solidFill>
                <a:latin typeface="Source Sans 3" pitchFamily="34" charset="0"/>
                <a:ea typeface="Source Sans 3" pitchFamily="34" charset="-122"/>
                <a:cs typeface="Source Sans 3" pitchFamily="34" charset="-120"/>
              </a:rPr>
              <a:t> / </a:t>
            </a:r>
            <a:r>
              <a:rPr lang="en-US" sz="1700" b="1" dirty="0">
                <a:solidFill>
                  <a:srgbClr val="2B4150"/>
                </a:solidFill>
                <a:latin typeface="Source Sans 3" pitchFamily="34" charset="0"/>
                <a:ea typeface="Source Sans 3" pitchFamily="34" charset="-122"/>
                <a:cs typeface="Source Sans 3" pitchFamily="34" charset="-120"/>
              </a:rPr>
              <a:t>"Mua ngay"</a:t>
            </a:r>
            <a:r>
              <a:rPr lang="en-US" sz="1700" dirty="0">
                <a:solidFill>
                  <a:srgbClr val="2B4150"/>
                </a:solidFill>
                <a:latin typeface="Source Sans 3" pitchFamily="34" charset="0"/>
                <a:ea typeface="Source Sans 3" pitchFamily="34" charset="-122"/>
                <a:cs typeface="Source Sans 3" pitchFamily="34" charset="-120"/>
              </a:rPr>
              <a: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7295138" y="3179564"/>
            <a:ext cx="5526524" cy="620078"/>
          </a:xfrm>
          <a:prstGeom prst="rect">
            <a:avLst/>
          </a:prstGeom>
          <a:noFill/>
          <a:ln/>
        </p:spPr>
        <p:txBody>
          <a:bodyPr wrap="none" lIns="0" tIns="0" rIns="0" bIns="0" rtlCol="0" anchor="t"/>
          <a:lstStyle/>
          <a:p>
            <a:pPr marL="0" indent="0" algn="l">
              <a:lnSpc>
                <a:spcPts val="4850"/>
              </a:lnSpc>
              <a:buNone/>
            </a:pPr>
            <a:r>
              <a:rPr lang="en-US" sz="3900" b="1" dirty="0">
                <a:solidFill>
                  <a:srgbClr val="124E73"/>
                </a:solidFill>
                <a:latin typeface="MuseoModerno Medium" pitchFamily="34" charset="0"/>
                <a:ea typeface="MuseoModerno Medium" pitchFamily="34" charset="-122"/>
                <a:cs typeface="MuseoModerno Medium" pitchFamily="34" charset="-120"/>
              </a:rPr>
              <a:t>Form Đăng Ký Đặt Báo</a:t>
            </a:r>
            <a:endParaRPr lang="en-US" sz="3900" b="1" dirty="0"/>
          </a:p>
        </p:txBody>
      </p:sp>
      <p:sp>
        <p:nvSpPr>
          <p:cNvPr id="4" name="Text 1"/>
          <p:cNvSpPr/>
          <p:nvPr/>
        </p:nvSpPr>
        <p:spPr>
          <a:xfrm>
            <a:off x="6280190" y="4097298"/>
            <a:ext cx="7556421" cy="952619"/>
          </a:xfrm>
          <a:prstGeom prst="rect">
            <a:avLst/>
          </a:prstGeom>
          <a:noFill/>
          <a:ln/>
        </p:spPr>
        <p:txBody>
          <a:bodyPr wrap="square" lIns="0" tIns="0" rIns="0" bIns="0" rtlCol="0" anchor="t"/>
          <a:lstStyle/>
          <a:p>
            <a:pPr marL="0" indent="0" algn="l">
              <a:lnSpc>
                <a:spcPts val="2500"/>
              </a:lnSpc>
              <a:buNone/>
            </a:pPr>
            <a:r>
              <a:rPr lang="en-US" sz="1700" dirty="0">
                <a:solidFill>
                  <a:srgbClr val="2B4150"/>
                </a:solidFill>
                <a:latin typeface="Source Sans 3" pitchFamily="34" charset="0"/>
                <a:ea typeface="Source Sans 3" pitchFamily="34" charset="-122"/>
                <a:cs typeface="Source Sans 3" pitchFamily="34" charset="-120"/>
              </a:rPr>
              <a:t>Bước cuối trong quy trình mua hàng: khách hàng điền thông tin cá nhân (Họ tên, SĐT, Email, Địa chỉ nhận báo) và chọn chu kỳ đặt báo </a:t>
            </a:r>
            <a:r>
              <a:rPr lang="en-US" sz="1700" b="1" dirty="0">
                <a:solidFill>
                  <a:srgbClr val="2B4150"/>
                </a:solidFill>
                <a:latin typeface="Source Sans 3" pitchFamily="34" charset="0"/>
                <a:ea typeface="Source Sans 3" pitchFamily="34" charset="-122"/>
                <a:cs typeface="Source Sans 3" pitchFamily="34" charset="-120"/>
              </a:rPr>
              <a:t>1 tháng, 3 tháng hoặc 6 tháng</a:t>
            </a:r>
            <a:r>
              <a:rPr lang="en-US" sz="1700" dirty="0">
                <a:solidFill>
                  <a:srgbClr val="2B4150"/>
                </a:solidFill>
                <a:latin typeface="Source Sans 3" pitchFamily="34" charset="0"/>
                <a:ea typeface="Source Sans 3" pitchFamily="34" charset="-122"/>
                <a:cs typeface="Source Sans 3" pitchFamily="34" charset="-120"/>
              </a:rPr>
              <a:t>. Giao diện tối giản, dễ thao tác cho mọi độ tuổi.</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272778"/>
            <a:ext cx="7110174" cy="620078"/>
          </a:xfrm>
          <a:prstGeom prst="rect">
            <a:avLst/>
          </a:prstGeom>
          <a:noFill/>
          <a:ln/>
        </p:spPr>
        <p:txBody>
          <a:bodyPr wrap="none" lIns="0" tIns="0" rIns="0" bIns="0" rtlCol="0" anchor="t"/>
          <a:lstStyle/>
          <a:p>
            <a:pPr marL="0" indent="0" algn="l">
              <a:lnSpc>
                <a:spcPts val="4850"/>
              </a:lnSpc>
              <a:buNone/>
            </a:pPr>
            <a:r>
              <a:rPr lang="en-US" sz="4000" b="1" dirty="0">
                <a:solidFill>
                  <a:srgbClr val="124E73"/>
                </a:solidFill>
                <a:latin typeface="MuseoModerno Medium" pitchFamily="34" charset="0"/>
                <a:ea typeface="MuseoModerno Medium" pitchFamily="34" charset="-122"/>
                <a:cs typeface="MuseoModerno Medium" pitchFamily="34" charset="-120"/>
              </a:rPr>
              <a:t>Trang Giỏ Hàng &amp; Chi Tiết Báo</a:t>
            </a:r>
            <a:endParaRPr lang="en-US" sz="4000" b="1" dirty="0"/>
          </a:p>
        </p:txBody>
      </p:sp>
      <p:sp>
        <p:nvSpPr>
          <p:cNvPr id="3" name="Text 1"/>
          <p:cNvSpPr/>
          <p:nvPr/>
        </p:nvSpPr>
        <p:spPr>
          <a:xfrm>
            <a:off x="793790" y="2388870"/>
            <a:ext cx="2480905" cy="310158"/>
          </a:xfrm>
          <a:prstGeom prst="rect">
            <a:avLst/>
          </a:prstGeom>
          <a:noFill/>
          <a:ln/>
        </p:spPr>
        <p:txBody>
          <a:bodyPr wrap="none" lIns="0" tIns="0" rIns="0" bIns="0" rtlCol="0" anchor="t"/>
          <a:lstStyle/>
          <a:p>
            <a:pPr marL="0" indent="0" algn="l">
              <a:lnSpc>
                <a:spcPts val="2400"/>
              </a:lnSpc>
              <a:buNone/>
            </a:pPr>
            <a:r>
              <a:rPr lang="en-US" sz="2100" b="1" dirty="0">
                <a:solidFill>
                  <a:srgbClr val="124E73"/>
                </a:solidFill>
                <a:latin typeface="MuseoModerno Medium" pitchFamily="34" charset="0"/>
                <a:ea typeface="MuseoModerno Medium" pitchFamily="34" charset="-122"/>
                <a:cs typeface="MuseoModerno Medium" pitchFamily="34" charset="-120"/>
              </a:rPr>
              <a:t>Giỏ Hàng</a:t>
            </a:r>
            <a:endParaRPr lang="en-US" sz="2100" b="1" dirty="0"/>
          </a:p>
        </p:txBody>
      </p:sp>
      <p:pic>
        <p:nvPicPr>
          <p:cNvPr id="4" name="Image 0" descr="preencoded.png"/>
          <p:cNvPicPr>
            <a:picLocks noChangeAspect="1"/>
          </p:cNvPicPr>
          <p:nvPr/>
        </p:nvPicPr>
        <p:blipFill>
          <a:blip r:embed="rId3"/>
          <a:stretch>
            <a:fillRect/>
          </a:stretch>
        </p:blipFill>
        <p:spPr>
          <a:xfrm>
            <a:off x="793790" y="2922270"/>
            <a:ext cx="6279356" cy="2997637"/>
          </a:xfrm>
          <a:prstGeom prst="rect">
            <a:avLst/>
          </a:prstGeom>
        </p:spPr>
      </p:pic>
      <p:sp>
        <p:nvSpPr>
          <p:cNvPr id="5" name="Text 2"/>
          <p:cNvSpPr/>
          <p:nvPr/>
        </p:nvSpPr>
        <p:spPr>
          <a:xfrm>
            <a:off x="793790" y="6143149"/>
            <a:ext cx="6279356" cy="635079"/>
          </a:xfrm>
          <a:prstGeom prst="rect">
            <a:avLst/>
          </a:prstGeom>
          <a:noFill/>
          <a:ln/>
        </p:spPr>
        <p:txBody>
          <a:bodyPr wrap="square" lIns="0" tIns="0" rIns="0" bIns="0" rtlCol="0" anchor="t"/>
          <a:lstStyle/>
          <a:p>
            <a:pPr marL="0" indent="0" algn="l">
              <a:lnSpc>
                <a:spcPts val="2500"/>
              </a:lnSpc>
              <a:buNone/>
            </a:pPr>
            <a:r>
              <a:rPr lang="en-US" sz="1700" dirty="0">
                <a:solidFill>
                  <a:srgbClr val="2B4150"/>
                </a:solidFill>
                <a:latin typeface="Source Sans 3" pitchFamily="34" charset="0"/>
                <a:ea typeface="Source Sans 3" pitchFamily="34" charset="-122"/>
                <a:cs typeface="Source Sans 3" pitchFamily="34" charset="-120"/>
              </a:rPr>
              <a:t>Hiển thị danh sách ấn phẩm đã chọn, cho phép điều chỉnh số lượng và xem tổng hóa đơn. Dữ liệu lưu bằng LocalStorage.</a:t>
            </a:r>
            <a:endParaRPr lang="en-US" sz="1700" dirty="0"/>
          </a:p>
        </p:txBody>
      </p:sp>
      <p:sp>
        <p:nvSpPr>
          <p:cNvPr id="6" name="Text 3"/>
          <p:cNvSpPr/>
          <p:nvPr/>
        </p:nvSpPr>
        <p:spPr>
          <a:xfrm>
            <a:off x="7564874" y="2388870"/>
            <a:ext cx="2480905" cy="310158"/>
          </a:xfrm>
          <a:prstGeom prst="rect">
            <a:avLst/>
          </a:prstGeom>
          <a:noFill/>
          <a:ln/>
        </p:spPr>
        <p:txBody>
          <a:bodyPr wrap="none" lIns="0" tIns="0" rIns="0" bIns="0" rtlCol="0" anchor="t"/>
          <a:lstStyle/>
          <a:p>
            <a:pPr marL="0" indent="0" algn="l">
              <a:lnSpc>
                <a:spcPts val="2400"/>
              </a:lnSpc>
              <a:buNone/>
            </a:pPr>
            <a:r>
              <a:rPr lang="en-US" sz="2100" b="1" dirty="0">
                <a:solidFill>
                  <a:srgbClr val="124E73"/>
                </a:solidFill>
                <a:latin typeface="MuseoModerno Medium" pitchFamily="34" charset="0"/>
                <a:ea typeface="MuseoModerno Medium" pitchFamily="34" charset="-122"/>
                <a:cs typeface="MuseoModerno Medium" pitchFamily="34" charset="-120"/>
              </a:rPr>
              <a:t>Chi Tiết Báo</a:t>
            </a:r>
            <a:endParaRPr lang="en-US" sz="2100" b="1" dirty="0"/>
          </a:p>
        </p:txBody>
      </p:sp>
      <p:pic>
        <p:nvPicPr>
          <p:cNvPr id="7" name="Image 1" descr="preencoded.png"/>
          <p:cNvPicPr>
            <a:picLocks noChangeAspect="1"/>
          </p:cNvPicPr>
          <p:nvPr/>
        </p:nvPicPr>
        <p:blipFill>
          <a:blip r:embed="rId4"/>
          <a:stretch>
            <a:fillRect/>
          </a:stretch>
        </p:blipFill>
        <p:spPr>
          <a:xfrm>
            <a:off x="7564874" y="2922270"/>
            <a:ext cx="6279356" cy="2480429"/>
          </a:xfrm>
          <a:prstGeom prst="rect">
            <a:avLst/>
          </a:prstGeom>
        </p:spPr>
      </p:pic>
      <p:sp>
        <p:nvSpPr>
          <p:cNvPr id="8" name="Text 4"/>
          <p:cNvSpPr/>
          <p:nvPr/>
        </p:nvSpPr>
        <p:spPr>
          <a:xfrm>
            <a:off x="7564874" y="5625941"/>
            <a:ext cx="6279356" cy="635079"/>
          </a:xfrm>
          <a:prstGeom prst="rect">
            <a:avLst/>
          </a:prstGeom>
          <a:noFill/>
          <a:ln/>
        </p:spPr>
        <p:txBody>
          <a:bodyPr wrap="square" lIns="0" tIns="0" rIns="0" bIns="0" rtlCol="0" anchor="t"/>
          <a:lstStyle/>
          <a:p>
            <a:pPr marL="0" indent="0" algn="l">
              <a:lnSpc>
                <a:spcPts val="2500"/>
              </a:lnSpc>
              <a:buNone/>
            </a:pPr>
            <a:r>
              <a:rPr lang="en-US" sz="1700" dirty="0">
                <a:solidFill>
                  <a:srgbClr val="2B4150"/>
                </a:solidFill>
                <a:latin typeface="Source Sans 3" pitchFamily="34" charset="0"/>
                <a:ea typeface="Source Sans 3" pitchFamily="34" charset="-122"/>
                <a:cs typeface="Source Sans 3" pitchFamily="34" charset="-120"/>
              </a:rPr>
              <a:t>Trang thông tin chi tiết từng ấn phẩm: hình ảnh lớn, giá cả, chu kỳ phát hành và mô tả nội dung tóm tắt.</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Shape 0"/>
          <p:cNvSpPr/>
          <p:nvPr/>
        </p:nvSpPr>
        <p:spPr>
          <a:xfrm>
            <a:off x="6280190" y="1710690"/>
            <a:ext cx="953453" cy="373142"/>
          </a:xfrm>
          <a:prstGeom prst="roundRect">
            <a:avLst>
              <a:gd name="adj" fmla="val 6383"/>
            </a:avLst>
          </a:prstGeom>
          <a:solidFill>
            <a:srgbClr val="DBE8F0"/>
          </a:solidFill>
          <a:ln/>
        </p:spPr>
        <p:txBody>
          <a:bodyPr/>
          <a:lstStyle/>
          <a:p>
            <a:endParaRPr lang="en-US" b="1"/>
          </a:p>
        </p:txBody>
      </p:sp>
      <p:sp>
        <p:nvSpPr>
          <p:cNvPr id="4" name="Text 1"/>
          <p:cNvSpPr/>
          <p:nvPr/>
        </p:nvSpPr>
        <p:spPr>
          <a:xfrm>
            <a:off x="6399252" y="1770221"/>
            <a:ext cx="715328" cy="254079"/>
          </a:xfrm>
          <a:prstGeom prst="rect">
            <a:avLst/>
          </a:prstGeom>
          <a:noFill/>
          <a:ln/>
        </p:spPr>
        <p:txBody>
          <a:bodyPr wrap="none" lIns="0" tIns="0" rIns="0" bIns="0" rtlCol="0" anchor="t"/>
          <a:lstStyle/>
          <a:p>
            <a:pPr marL="0" indent="0" algn="l">
              <a:lnSpc>
                <a:spcPts val="2000"/>
              </a:lnSpc>
              <a:buNone/>
            </a:pPr>
            <a:r>
              <a:rPr lang="en-US" sz="1250" b="1" dirty="0">
                <a:solidFill>
                  <a:srgbClr val="2B4150"/>
                </a:solidFill>
                <a:latin typeface="Source Sans 3" pitchFamily="34" charset="0"/>
                <a:ea typeface="Source Sans 3" pitchFamily="34" charset="-122"/>
                <a:cs typeface="Source Sans 3" pitchFamily="34" charset="-120"/>
              </a:rPr>
              <a:t>CHƯƠNG 4</a:t>
            </a:r>
            <a:endParaRPr lang="en-US" sz="1250" b="1" dirty="0"/>
          </a:p>
        </p:txBody>
      </p:sp>
      <p:sp>
        <p:nvSpPr>
          <p:cNvPr id="5" name="Text 2"/>
          <p:cNvSpPr/>
          <p:nvPr/>
        </p:nvSpPr>
        <p:spPr>
          <a:xfrm>
            <a:off x="6280190" y="2163128"/>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124E73"/>
                </a:solidFill>
                <a:latin typeface="MuseoModerno Medium" pitchFamily="34" charset="0"/>
                <a:ea typeface="MuseoModerno Medium" pitchFamily="34" charset="-122"/>
                <a:cs typeface="MuseoModerno Medium" pitchFamily="34" charset="-120"/>
              </a:rPr>
              <a:t>Kết Quả Đạt Được</a:t>
            </a:r>
            <a:endParaRPr lang="en-US" sz="3900" b="1" dirty="0"/>
          </a:p>
        </p:txBody>
      </p:sp>
      <p:sp>
        <p:nvSpPr>
          <p:cNvPr id="6" name="Shape 3"/>
          <p:cNvSpPr/>
          <p:nvPr/>
        </p:nvSpPr>
        <p:spPr>
          <a:xfrm>
            <a:off x="6280190" y="3080861"/>
            <a:ext cx="3679031" cy="1778556"/>
          </a:xfrm>
          <a:prstGeom prst="roundRect">
            <a:avLst>
              <a:gd name="adj" fmla="val 1674"/>
            </a:avLst>
          </a:prstGeom>
          <a:solidFill>
            <a:srgbClr val="F3EEE3"/>
          </a:solidFill>
          <a:ln/>
        </p:spPr>
        <p:txBody>
          <a:bodyPr/>
          <a:lstStyle/>
          <a:p>
            <a:endParaRPr lang="en-US"/>
          </a:p>
        </p:txBody>
      </p:sp>
      <p:sp>
        <p:nvSpPr>
          <p:cNvPr id="7" name="Text 4"/>
          <p:cNvSpPr/>
          <p:nvPr/>
        </p:nvSpPr>
        <p:spPr>
          <a:xfrm>
            <a:off x="6478548" y="3279219"/>
            <a:ext cx="2614255" cy="310158"/>
          </a:xfrm>
          <a:prstGeom prst="rect">
            <a:avLst/>
          </a:prstGeom>
          <a:noFill/>
          <a:ln/>
        </p:spPr>
        <p:txBody>
          <a:bodyPr wrap="none" lIns="0" tIns="0" rIns="0" bIns="0" rtlCol="0" anchor="t"/>
          <a:lstStyle/>
          <a:p>
            <a:pPr marL="0" indent="0" algn="l">
              <a:lnSpc>
                <a:spcPts val="2400"/>
              </a:lnSpc>
              <a:buNone/>
            </a:pPr>
            <a:r>
              <a:rPr lang="en-US" sz="1950" b="1" dirty="0">
                <a:solidFill>
                  <a:srgbClr val="2B4150"/>
                </a:solidFill>
                <a:latin typeface="MuseoModerno Medium" pitchFamily="34" charset="0"/>
                <a:ea typeface="MuseoModerno Medium" pitchFamily="34" charset="-122"/>
                <a:cs typeface="MuseoModerno Medium" pitchFamily="34" charset="-120"/>
              </a:rPr>
              <a:t>Giao Diện Hoàn Chỉnh</a:t>
            </a:r>
            <a:endParaRPr lang="en-US" sz="1950" b="1" dirty="0"/>
          </a:p>
        </p:txBody>
      </p:sp>
      <p:sp>
        <p:nvSpPr>
          <p:cNvPr id="8" name="Text 5"/>
          <p:cNvSpPr/>
          <p:nvPr/>
        </p:nvSpPr>
        <p:spPr>
          <a:xfrm>
            <a:off x="6478548" y="3708440"/>
            <a:ext cx="3282315" cy="952619"/>
          </a:xfrm>
          <a:prstGeom prst="rect">
            <a:avLst/>
          </a:prstGeom>
          <a:noFill/>
          <a:ln/>
        </p:spPr>
        <p:txBody>
          <a:bodyPr wrap="square" lIns="0" tIns="0" rIns="0" bIns="0" rtlCol="0" anchor="t"/>
          <a:lstStyle/>
          <a:p>
            <a:pPr marL="0" indent="0" algn="l">
              <a:lnSpc>
                <a:spcPts val="2500"/>
              </a:lnSpc>
              <a:buNone/>
            </a:pPr>
            <a:r>
              <a:rPr lang="en-US" sz="1550" dirty="0">
                <a:solidFill>
                  <a:srgbClr val="2B4150"/>
                </a:solidFill>
                <a:latin typeface="Source Sans 3" pitchFamily="34" charset="0"/>
                <a:ea typeface="Source Sans 3" pitchFamily="34" charset="-122"/>
                <a:cs typeface="Source Sans 3" pitchFamily="34" charset="-120"/>
              </a:rPr>
              <a:t>Tông màu đỏ đậm &amp; trắng chủ đạo, hiện đại, responsive trên PC, tablet và điện thoại nhờ Bootstrap.</a:t>
            </a:r>
            <a:endParaRPr lang="en-US" sz="1550" dirty="0"/>
          </a:p>
        </p:txBody>
      </p:sp>
      <p:sp>
        <p:nvSpPr>
          <p:cNvPr id="9" name="Shape 6"/>
          <p:cNvSpPr/>
          <p:nvPr/>
        </p:nvSpPr>
        <p:spPr>
          <a:xfrm>
            <a:off x="10157579" y="3080861"/>
            <a:ext cx="3679031" cy="1778556"/>
          </a:xfrm>
          <a:prstGeom prst="roundRect">
            <a:avLst>
              <a:gd name="adj" fmla="val 1674"/>
            </a:avLst>
          </a:prstGeom>
          <a:solidFill>
            <a:srgbClr val="F3EEE3"/>
          </a:solidFill>
          <a:ln/>
        </p:spPr>
        <p:txBody>
          <a:bodyPr/>
          <a:lstStyle/>
          <a:p>
            <a:endParaRPr lang="en-US"/>
          </a:p>
        </p:txBody>
      </p:sp>
      <p:sp>
        <p:nvSpPr>
          <p:cNvPr id="10" name="Text 7"/>
          <p:cNvSpPr/>
          <p:nvPr/>
        </p:nvSpPr>
        <p:spPr>
          <a:xfrm>
            <a:off x="10355937" y="327921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B4150"/>
                </a:solidFill>
                <a:latin typeface="MuseoModerno Medium" pitchFamily="34" charset="0"/>
                <a:ea typeface="MuseoModerno Medium" pitchFamily="34" charset="-122"/>
                <a:cs typeface="MuseoModerno Medium" pitchFamily="34" charset="-120"/>
              </a:rPr>
              <a:t>Chức Năng Cơ Bản</a:t>
            </a:r>
            <a:endParaRPr lang="en-US" sz="1950" b="1" dirty="0"/>
          </a:p>
        </p:txBody>
      </p:sp>
      <p:sp>
        <p:nvSpPr>
          <p:cNvPr id="11" name="Text 8"/>
          <p:cNvSpPr/>
          <p:nvPr/>
        </p:nvSpPr>
        <p:spPr>
          <a:xfrm>
            <a:off x="10355937" y="3708440"/>
            <a:ext cx="3282315" cy="952619"/>
          </a:xfrm>
          <a:prstGeom prst="rect">
            <a:avLst/>
          </a:prstGeom>
          <a:noFill/>
          <a:ln/>
        </p:spPr>
        <p:txBody>
          <a:bodyPr wrap="square" lIns="0" tIns="0" rIns="0" bIns="0" rtlCol="0" anchor="t"/>
          <a:lstStyle/>
          <a:p>
            <a:pPr marL="0" indent="0" algn="l">
              <a:lnSpc>
                <a:spcPts val="2500"/>
              </a:lnSpc>
              <a:buNone/>
            </a:pPr>
            <a:r>
              <a:rPr lang="en-US" sz="1550" dirty="0">
                <a:solidFill>
                  <a:srgbClr val="2B4150"/>
                </a:solidFill>
                <a:latin typeface="Source Sans 3" pitchFamily="34" charset="0"/>
                <a:ea typeface="Source Sans 3" pitchFamily="34" charset="-122"/>
                <a:cs typeface="Source Sans 3" pitchFamily="34" charset="-120"/>
              </a:rPr>
              <a:t>Danh mục báo theo chủ đề (Thời sự, Kinh tế, Thể thao...), giỏ hàng, gói đặt mua tháng/quý/năm, đăng nhập.</a:t>
            </a:r>
            <a:endParaRPr lang="en-US" sz="1550" dirty="0"/>
          </a:p>
        </p:txBody>
      </p:sp>
      <p:sp>
        <p:nvSpPr>
          <p:cNvPr id="12" name="Shape 9"/>
          <p:cNvSpPr/>
          <p:nvPr/>
        </p:nvSpPr>
        <p:spPr>
          <a:xfrm>
            <a:off x="6280190" y="5057775"/>
            <a:ext cx="7556421" cy="1461016"/>
          </a:xfrm>
          <a:prstGeom prst="roundRect">
            <a:avLst>
              <a:gd name="adj" fmla="val 2038"/>
            </a:avLst>
          </a:prstGeom>
          <a:solidFill>
            <a:srgbClr val="F3EEE3"/>
          </a:solidFill>
          <a:ln/>
        </p:spPr>
        <p:txBody>
          <a:bodyPr/>
          <a:lstStyle/>
          <a:p>
            <a:endParaRPr lang="en-US"/>
          </a:p>
        </p:txBody>
      </p:sp>
      <p:sp>
        <p:nvSpPr>
          <p:cNvPr id="13" name="Text 10"/>
          <p:cNvSpPr/>
          <p:nvPr/>
        </p:nvSpPr>
        <p:spPr>
          <a:xfrm>
            <a:off x="6478548" y="525613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B4150"/>
                </a:solidFill>
                <a:latin typeface="MuseoModerno Medium" pitchFamily="34" charset="0"/>
                <a:ea typeface="MuseoModerno Medium" pitchFamily="34" charset="-122"/>
                <a:cs typeface="MuseoModerno Medium" pitchFamily="34" charset="-120"/>
              </a:rPr>
              <a:t>Kinh Nghiệm Nhóm</a:t>
            </a:r>
            <a:endParaRPr lang="en-US" sz="1950" b="1" dirty="0"/>
          </a:p>
        </p:txBody>
      </p:sp>
      <p:sp>
        <p:nvSpPr>
          <p:cNvPr id="14" name="Text 11"/>
          <p:cNvSpPr/>
          <p:nvPr/>
        </p:nvSpPr>
        <p:spPr>
          <a:xfrm>
            <a:off x="6478548" y="5685353"/>
            <a:ext cx="7159704" cy="635079"/>
          </a:xfrm>
          <a:prstGeom prst="rect">
            <a:avLst/>
          </a:prstGeom>
          <a:noFill/>
          <a:ln/>
        </p:spPr>
        <p:txBody>
          <a:bodyPr wrap="square" lIns="0" tIns="0" rIns="0" bIns="0" rtlCol="0" anchor="t"/>
          <a:lstStyle/>
          <a:p>
            <a:pPr marL="0" indent="0" algn="l">
              <a:lnSpc>
                <a:spcPts val="2500"/>
              </a:lnSpc>
              <a:buNone/>
            </a:pPr>
            <a:r>
              <a:rPr lang="en-US" sz="1550" dirty="0">
                <a:solidFill>
                  <a:srgbClr val="2B4150"/>
                </a:solidFill>
                <a:latin typeface="Source Sans 3" pitchFamily="34" charset="0"/>
                <a:ea typeface="Source Sans 3" pitchFamily="34" charset="-122"/>
                <a:cs typeface="Source Sans 3" pitchFamily="34" charset="-120"/>
              </a:rPr>
              <a:t>Phân công rõ ràng, rèn luyện hợp tác, giao tiếp và giải quyết vấn đề. Củng cố kiến thức lập trình web thực tế.</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2141577"/>
            <a:ext cx="6688455" cy="620078"/>
          </a:xfrm>
          <a:prstGeom prst="rect">
            <a:avLst/>
          </a:prstGeom>
          <a:noFill/>
          <a:ln/>
        </p:spPr>
        <p:txBody>
          <a:bodyPr wrap="none" lIns="0" tIns="0" rIns="0" bIns="0" rtlCol="0" anchor="t"/>
          <a:lstStyle/>
          <a:p>
            <a:pPr marL="0" indent="0" algn="l">
              <a:lnSpc>
                <a:spcPts val="4850"/>
              </a:lnSpc>
              <a:buNone/>
            </a:pPr>
            <a:r>
              <a:rPr lang="en-US" sz="3900" b="1" dirty="0">
                <a:solidFill>
                  <a:srgbClr val="124E73"/>
                </a:solidFill>
                <a:latin typeface="MuseoModerno Medium" pitchFamily="34" charset="0"/>
                <a:ea typeface="MuseoModerno Medium" pitchFamily="34" charset="-122"/>
                <a:cs typeface="MuseoModerno Medium" pitchFamily="34" charset="-120"/>
              </a:rPr>
              <a:t>Hạn Chế &amp; Hướng Phát Triển</a:t>
            </a:r>
            <a:endParaRPr lang="en-US" sz="3900" b="1" dirty="0"/>
          </a:p>
        </p:txBody>
      </p:sp>
      <p:sp>
        <p:nvSpPr>
          <p:cNvPr id="3" name="Shape 1"/>
          <p:cNvSpPr/>
          <p:nvPr/>
        </p:nvSpPr>
        <p:spPr>
          <a:xfrm>
            <a:off x="650915" y="3059311"/>
            <a:ext cx="6565106" cy="3028593"/>
          </a:xfrm>
          <a:prstGeom prst="roundRect">
            <a:avLst>
              <a:gd name="adj" fmla="val 983"/>
            </a:avLst>
          </a:prstGeom>
          <a:solidFill>
            <a:srgbClr val="325F7B"/>
          </a:solidFill>
          <a:ln/>
        </p:spPr>
        <p:txBody>
          <a:bodyPr/>
          <a:lstStyle/>
          <a:p>
            <a:endParaRPr lang="en-US"/>
          </a:p>
        </p:txBody>
      </p:sp>
      <p:sp>
        <p:nvSpPr>
          <p:cNvPr id="4" name="Text 2"/>
          <p:cNvSpPr/>
          <p:nvPr/>
        </p:nvSpPr>
        <p:spPr>
          <a:xfrm>
            <a:off x="849273" y="325766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MuseoModerno Medium" pitchFamily="34" charset="0"/>
                <a:ea typeface="MuseoModerno Medium" pitchFamily="34" charset="-122"/>
                <a:cs typeface="MuseoModerno Medium" pitchFamily="34" charset="-120"/>
              </a:rPr>
              <a:t>⚠</a:t>
            </a:r>
            <a:r>
              <a:rPr lang="en-US" sz="1950" dirty="0">
                <a:solidFill>
                  <a:srgbClr val="FFFFFF"/>
                </a:solidFill>
                <a:latin typeface="MuseoModerno Medium" pitchFamily="34" charset="0"/>
                <a:ea typeface="MuseoModerno Medium" pitchFamily="34" charset="-122"/>
                <a:cs typeface="MuseoModerno Medium" pitchFamily="34" charset="-120"/>
              </a:rPr>
              <a:t> </a:t>
            </a:r>
            <a:r>
              <a:rPr lang="en-US" sz="2100" b="1" dirty="0">
                <a:solidFill>
                  <a:srgbClr val="FFFFFF"/>
                </a:solidFill>
                <a:latin typeface="MuseoModerno Medium" pitchFamily="34" charset="0"/>
                <a:ea typeface="MuseoModerno Medium" pitchFamily="34" charset="-122"/>
                <a:cs typeface="MuseoModerno Medium" pitchFamily="34" charset="-120"/>
              </a:rPr>
              <a:t>Hạn Chế Hiện Tại</a:t>
            </a:r>
            <a:endParaRPr lang="en-US" sz="2100" b="1" dirty="0"/>
          </a:p>
        </p:txBody>
      </p:sp>
      <p:sp>
        <p:nvSpPr>
          <p:cNvPr id="5" name="Text 3"/>
          <p:cNvSpPr/>
          <p:nvPr/>
        </p:nvSpPr>
        <p:spPr>
          <a:xfrm>
            <a:off x="849273" y="3766185"/>
            <a:ext cx="6168390" cy="1865352"/>
          </a:xfrm>
          <a:prstGeom prst="rect">
            <a:avLst/>
          </a:prstGeom>
          <a:noFill/>
          <a:ln/>
        </p:spPr>
        <p:txBody>
          <a:bodyPr wrap="square" lIns="0" tIns="0" rIns="0" bIns="0" rtlCol="0" anchor="t"/>
          <a:lstStyle/>
          <a:p>
            <a:pPr marL="342900" indent="-342900" algn="l">
              <a:lnSpc>
                <a:spcPts val="2500"/>
              </a:lnSpc>
              <a:buSzPct val="100000"/>
              <a:buChar char="•"/>
            </a:pPr>
            <a:r>
              <a:rPr lang="en-US" sz="1700" dirty="0">
                <a:solidFill>
                  <a:srgbClr val="FFFFFF"/>
                </a:solidFill>
                <a:latin typeface="Source Sans 3" pitchFamily="34" charset="0"/>
                <a:ea typeface="Source Sans 3" pitchFamily="34" charset="-122"/>
                <a:cs typeface="Source Sans 3" pitchFamily="34" charset="-120"/>
              </a:rPr>
              <a:t>Website tĩnh, chưa kết nối cơ sở dữ liệu thực</a:t>
            </a:r>
            <a:endParaRPr lang="en-US" sz="1700" dirty="0"/>
          </a:p>
          <a:p>
            <a:pPr marL="342900" indent="-342900" algn="l">
              <a:lnSpc>
                <a:spcPts val="2500"/>
              </a:lnSpc>
              <a:buSzPct val="100000"/>
              <a:buChar char="•"/>
            </a:pPr>
            <a:r>
              <a:rPr lang="en-US" sz="1700" dirty="0">
                <a:solidFill>
                  <a:srgbClr val="FFFFFF"/>
                </a:solidFill>
                <a:latin typeface="Source Sans 3" pitchFamily="34" charset="0"/>
                <a:ea typeface="Source Sans 3" pitchFamily="34" charset="-122"/>
                <a:cs typeface="Source Sans 3" pitchFamily="34" charset="-120"/>
              </a:rPr>
              <a:t>Đăng ký, đăng nhập, thanh toán mang tính mô phỏng</a:t>
            </a:r>
            <a:endParaRPr lang="en-US" sz="1700" dirty="0"/>
          </a:p>
          <a:p>
            <a:pPr marL="342900" indent="-342900" algn="l">
              <a:lnSpc>
                <a:spcPts val="2500"/>
              </a:lnSpc>
              <a:buSzPct val="100000"/>
              <a:buChar char="•"/>
            </a:pPr>
            <a:r>
              <a:rPr lang="en-US" sz="1700" dirty="0">
                <a:solidFill>
                  <a:srgbClr val="FFFFFF"/>
                </a:solidFill>
                <a:latin typeface="Source Sans 3" pitchFamily="34" charset="0"/>
                <a:ea typeface="Source Sans 3" pitchFamily="34" charset="-122"/>
                <a:cs typeface="Source Sans 3" pitchFamily="34" charset="-120"/>
              </a:rPr>
              <a:t>Chưa có hệ thống Admin quản trị sản phẩm</a:t>
            </a:r>
            <a:endParaRPr lang="en-US" sz="1700" dirty="0"/>
          </a:p>
          <a:p>
            <a:pPr marL="342900" indent="-342900" algn="l">
              <a:lnSpc>
                <a:spcPts val="2500"/>
              </a:lnSpc>
              <a:buSzPct val="100000"/>
              <a:buChar char="•"/>
            </a:pPr>
            <a:r>
              <a:rPr lang="en-US" sz="1700" dirty="0">
                <a:solidFill>
                  <a:srgbClr val="FFFFFF"/>
                </a:solidFill>
                <a:latin typeface="Source Sans 3" pitchFamily="34" charset="0"/>
                <a:ea typeface="Source Sans 3" pitchFamily="34" charset="-122"/>
                <a:cs typeface="Source Sans 3" pitchFamily="34" charset="-120"/>
              </a:rPr>
              <a:t>Chưa tích hợp lọc sản phẩm theo giá/loại</a:t>
            </a:r>
            <a:endParaRPr lang="en-US" sz="1700" dirty="0"/>
          </a:p>
          <a:p>
            <a:pPr marL="342900" indent="-342900" algn="l">
              <a:lnSpc>
                <a:spcPts val="2500"/>
              </a:lnSpc>
              <a:buSzPct val="100000"/>
              <a:buChar char="•"/>
            </a:pPr>
            <a:r>
              <a:rPr lang="en-US" sz="1700" dirty="0">
                <a:solidFill>
                  <a:srgbClr val="FFFFFF"/>
                </a:solidFill>
                <a:latin typeface="Source Sans 3" pitchFamily="34" charset="0"/>
                <a:ea typeface="Source Sans 3" pitchFamily="34" charset="-122"/>
                <a:cs typeface="Source Sans 3" pitchFamily="34" charset="-120"/>
              </a:rPr>
              <a:t>Hiệu ứng JavaScript còn đơn giản</a:t>
            </a:r>
            <a:endParaRPr lang="en-US" sz="1700" dirty="0"/>
          </a:p>
        </p:txBody>
      </p:sp>
      <p:sp>
        <p:nvSpPr>
          <p:cNvPr id="6" name="Text 4"/>
          <p:cNvSpPr/>
          <p:nvPr/>
        </p:nvSpPr>
        <p:spPr>
          <a:xfrm>
            <a:off x="7564874" y="325766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MuseoModerno Medium" pitchFamily="34" charset="0"/>
                <a:ea typeface="MuseoModerno Medium" pitchFamily="34" charset="-122"/>
                <a:cs typeface="MuseoModerno Medium" pitchFamily="34" charset="-120"/>
              </a:rPr>
              <a:t>🚀</a:t>
            </a:r>
            <a:r>
              <a:rPr lang="en-US" sz="1950" dirty="0">
                <a:solidFill>
                  <a:srgbClr val="124E73"/>
                </a:solidFill>
                <a:latin typeface="MuseoModerno Medium" pitchFamily="34" charset="0"/>
                <a:ea typeface="MuseoModerno Medium" pitchFamily="34" charset="-122"/>
                <a:cs typeface="MuseoModerno Medium" pitchFamily="34" charset="-120"/>
              </a:rPr>
              <a:t> </a:t>
            </a:r>
            <a:r>
              <a:rPr lang="en-US" sz="2100" b="1" dirty="0">
                <a:solidFill>
                  <a:srgbClr val="124E73"/>
                </a:solidFill>
                <a:latin typeface="MuseoModerno Medium" pitchFamily="34" charset="0"/>
                <a:ea typeface="MuseoModerno Medium" pitchFamily="34" charset="-122"/>
                <a:cs typeface="MuseoModerno Medium" pitchFamily="34" charset="-120"/>
              </a:rPr>
              <a:t>Hướng Phát Triển</a:t>
            </a:r>
            <a:endParaRPr lang="en-US" sz="2100" b="1" dirty="0"/>
          </a:p>
        </p:txBody>
      </p:sp>
      <p:sp>
        <p:nvSpPr>
          <p:cNvPr id="7" name="Text 5"/>
          <p:cNvSpPr/>
          <p:nvPr/>
        </p:nvSpPr>
        <p:spPr>
          <a:xfrm>
            <a:off x="7564874" y="3766185"/>
            <a:ext cx="6279356" cy="2252305"/>
          </a:xfrm>
          <a:prstGeom prst="rect">
            <a:avLst/>
          </a:prstGeom>
          <a:noFill/>
          <a:ln/>
        </p:spPr>
        <p:txBody>
          <a:bodyPr wrap="square" lIns="0" tIns="0" rIns="0" bIns="0" rtlCol="0" anchor="t"/>
          <a:lstStyle/>
          <a:p>
            <a:pPr marL="342900" indent="-342900" algn="l">
              <a:lnSpc>
                <a:spcPts val="2500"/>
              </a:lnSpc>
              <a:buSzPct val="100000"/>
              <a:buChar char="•"/>
            </a:pPr>
            <a:r>
              <a:rPr lang="en-US" sz="1700" dirty="0">
                <a:solidFill>
                  <a:srgbClr val="2B4150"/>
                </a:solidFill>
                <a:latin typeface="Source Sans 3" pitchFamily="34" charset="0"/>
                <a:ea typeface="Source Sans 3" pitchFamily="34" charset="-122"/>
                <a:cs typeface="Source Sans 3" pitchFamily="34" charset="-120"/>
              </a:rPr>
              <a:t>Chuyển sang website động, lưu dữ liệu bằng file JSON</a:t>
            </a:r>
            <a:endParaRPr lang="en-US" sz="1700" dirty="0"/>
          </a:p>
          <a:p>
            <a:pPr marL="342900" indent="-342900" algn="l">
              <a:lnSpc>
                <a:spcPts val="2500"/>
              </a:lnSpc>
              <a:buSzPct val="100000"/>
              <a:buChar char="•"/>
            </a:pPr>
            <a:r>
              <a:rPr lang="en-US" sz="1700" dirty="0">
                <a:solidFill>
                  <a:srgbClr val="2B4150"/>
                </a:solidFill>
                <a:latin typeface="Source Sans 3" pitchFamily="34" charset="0"/>
                <a:ea typeface="Source Sans 3" pitchFamily="34" charset="-122"/>
                <a:cs typeface="Source Sans 3" pitchFamily="34" charset="-120"/>
              </a:rPr>
              <a:t>Xây dựng Admin Panel: thêm/sửa/xóa sản phẩm, duyệt đơn hàng</a:t>
            </a:r>
            <a:endParaRPr lang="en-US" sz="1700" dirty="0"/>
          </a:p>
          <a:p>
            <a:pPr marL="342900" indent="-342900" algn="l">
              <a:lnSpc>
                <a:spcPts val="2500"/>
              </a:lnSpc>
              <a:buSzPct val="100000"/>
              <a:buChar char="•"/>
            </a:pPr>
            <a:r>
              <a:rPr lang="en-US" sz="1700" dirty="0">
                <a:solidFill>
                  <a:srgbClr val="2B4150"/>
                </a:solidFill>
                <a:latin typeface="Source Sans 3" pitchFamily="34" charset="0"/>
                <a:ea typeface="Source Sans 3" pitchFamily="34" charset="-122"/>
                <a:cs typeface="Source Sans 3" pitchFamily="34" charset="-120"/>
              </a:rPr>
              <a:t>Tích hợp cổng thanh toán: VNPay, MoMo, ZaloPay</a:t>
            </a:r>
            <a:endParaRPr lang="en-US" sz="1700" dirty="0"/>
          </a:p>
          <a:p>
            <a:pPr marL="342900" indent="-342900" algn="l">
              <a:lnSpc>
                <a:spcPts val="2500"/>
              </a:lnSpc>
              <a:buSzPct val="100000"/>
              <a:buChar char="•"/>
            </a:pPr>
            <a:r>
              <a:rPr lang="en-US" sz="1700" dirty="0">
                <a:solidFill>
                  <a:srgbClr val="2B4150"/>
                </a:solidFill>
                <a:latin typeface="Source Sans 3" pitchFamily="34" charset="0"/>
                <a:ea typeface="Source Sans 3" pitchFamily="34" charset="-122"/>
                <a:cs typeface="Source Sans 3" pitchFamily="34" charset="-120"/>
              </a:rPr>
              <a:t>Tối ưu UI/UX, bổ sung đánh giá báo &amp; lọc thông minh</a:t>
            </a:r>
            <a:endParaRPr lang="en-US" sz="1700" dirty="0"/>
          </a:p>
          <a:p>
            <a:pPr marL="342900" indent="-342900" algn="l">
              <a:lnSpc>
                <a:spcPts val="2500"/>
              </a:lnSpc>
              <a:buSzPct val="100000"/>
              <a:buChar char="•"/>
            </a:pPr>
            <a:r>
              <a:rPr lang="en-US" sz="1700" dirty="0">
                <a:solidFill>
                  <a:srgbClr val="2B4150"/>
                </a:solidFill>
                <a:latin typeface="Source Sans 3" pitchFamily="34" charset="0"/>
                <a:ea typeface="Source Sans 3" pitchFamily="34" charset="-122"/>
                <a:cs typeface="Source Sans 3" pitchFamily="34" charset="-120"/>
              </a:rPr>
              <a:t>Tăng cường bảo mật, tối ưu SEO và tốc độ tải trang</a:t>
            </a:r>
            <a:endParaRPr lang="en-US" sz="1700" dirty="0"/>
          </a:p>
          <a:p>
            <a:pPr marL="342900" indent="-342900" algn="l">
              <a:lnSpc>
                <a:spcPts val="2500"/>
              </a:lnSpc>
              <a:buSzPct val="100000"/>
              <a:buChar char="•"/>
            </a:pPr>
            <a:r>
              <a:rPr lang="en-US" sz="1700" dirty="0">
                <a:solidFill>
                  <a:srgbClr val="2B4150"/>
                </a:solidFill>
                <a:latin typeface="Source Sans 3" pitchFamily="34" charset="0"/>
                <a:ea typeface="Source Sans 3" pitchFamily="34" charset="-122"/>
                <a:cs typeface="Source Sans 3" pitchFamily="34" charset="-120"/>
              </a:rPr>
              <a:t>Triển khai thực tế với tên miền và hosting thật</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2000369"/>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124E73"/>
                </a:solidFill>
                <a:latin typeface="MuseoModerno Medium" pitchFamily="34" charset="0"/>
                <a:ea typeface="MuseoModerno Medium" pitchFamily="34" charset="-122"/>
                <a:cs typeface="MuseoModerno Medium" pitchFamily="34" charset="-120"/>
              </a:rPr>
              <a:t>Tài Liệu Tham Khảo</a:t>
            </a:r>
            <a:endParaRPr lang="en-US" sz="3900" b="1" dirty="0"/>
          </a:p>
        </p:txBody>
      </p:sp>
      <p:sp>
        <p:nvSpPr>
          <p:cNvPr id="3" name="Shape 1"/>
          <p:cNvSpPr/>
          <p:nvPr/>
        </p:nvSpPr>
        <p:spPr>
          <a:xfrm>
            <a:off x="793790" y="3017282"/>
            <a:ext cx="6422231" cy="1506736"/>
          </a:xfrm>
          <a:prstGeom prst="roundRect">
            <a:avLst>
              <a:gd name="adj" fmla="val 7282"/>
            </a:avLst>
          </a:prstGeom>
          <a:solidFill>
            <a:srgbClr val="FFFCF5"/>
          </a:solidFill>
          <a:ln w="22860">
            <a:solidFill>
              <a:srgbClr val="D9D4C9"/>
            </a:solidFill>
            <a:prstDash val="solid"/>
          </a:ln>
        </p:spPr>
        <p:txBody>
          <a:bodyPr/>
          <a:lstStyle/>
          <a:p>
            <a:endParaRPr lang="en-US"/>
          </a:p>
        </p:txBody>
      </p:sp>
      <p:sp>
        <p:nvSpPr>
          <p:cNvPr id="4" name="Shape 2"/>
          <p:cNvSpPr/>
          <p:nvPr/>
        </p:nvSpPr>
        <p:spPr>
          <a:xfrm>
            <a:off x="770930" y="3017282"/>
            <a:ext cx="91440" cy="1506736"/>
          </a:xfrm>
          <a:prstGeom prst="roundRect">
            <a:avLst>
              <a:gd name="adj" fmla="val 32558"/>
            </a:avLst>
          </a:prstGeom>
          <a:solidFill>
            <a:srgbClr val="325F7B"/>
          </a:solidFill>
          <a:ln/>
        </p:spPr>
        <p:txBody>
          <a:bodyPr/>
          <a:lstStyle/>
          <a:p>
            <a:endParaRPr lang="en-US"/>
          </a:p>
        </p:txBody>
      </p:sp>
      <p:sp>
        <p:nvSpPr>
          <p:cNvPr id="5" name="Text 3"/>
          <p:cNvSpPr/>
          <p:nvPr/>
        </p:nvSpPr>
        <p:spPr>
          <a:xfrm>
            <a:off x="1083588" y="3238500"/>
            <a:ext cx="2480905" cy="310158"/>
          </a:xfrm>
          <a:prstGeom prst="rect">
            <a:avLst/>
          </a:prstGeom>
          <a:noFill/>
          <a:ln/>
        </p:spPr>
        <p:txBody>
          <a:bodyPr wrap="none" lIns="0" tIns="0" rIns="0" bIns="0" rtlCol="0" anchor="t"/>
          <a:lstStyle/>
          <a:p>
            <a:pPr marL="0" indent="0" algn="l">
              <a:lnSpc>
                <a:spcPts val="2400"/>
              </a:lnSpc>
              <a:buNone/>
            </a:pPr>
            <a:r>
              <a:rPr lang="en-US" sz="2100" b="1" dirty="0">
                <a:solidFill>
                  <a:srgbClr val="2B4150"/>
                </a:solidFill>
                <a:latin typeface="MuseoModerno Medium" pitchFamily="34" charset="0"/>
                <a:ea typeface="MuseoModerno Medium" pitchFamily="34" charset="-122"/>
                <a:cs typeface="MuseoModerno Medium" pitchFamily="34" charset="-120"/>
              </a:rPr>
              <a:t>Giáo Trình</a:t>
            </a:r>
            <a:endParaRPr lang="en-US" sz="2100" b="1" dirty="0"/>
          </a:p>
        </p:txBody>
      </p:sp>
      <p:sp>
        <p:nvSpPr>
          <p:cNvPr id="6" name="Text 4"/>
          <p:cNvSpPr/>
          <p:nvPr/>
        </p:nvSpPr>
        <p:spPr>
          <a:xfrm>
            <a:off x="1083588" y="3667720"/>
            <a:ext cx="5911215" cy="635079"/>
          </a:xfrm>
          <a:prstGeom prst="rect">
            <a:avLst/>
          </a:prstGeom>
          <a:noFill/>
          <a:ln/>
        </p:spPr>
        <p:txBody>
          <a:bodyPr wrap="square" lIns="0" tIns="0" rIns="0" bIns="0" rtlCol="0" anchor="t"/>
          <a:lstStyle/>
          <a:p>
            <a:pPr marL="0" indent="0" algn="l">
              <a:lnSpc>
                <a:spcPts val="2500"/>
              </a:lnSpc>
              <a:buNone/>
            </a:pPr>
            <a:r>
              <a:rPr lang="en-US" sz="1700" dirty="0">
                <a:solidFill>
                  <a:srgbClr val="2B4150"/>
                </a:solidFill>
                <a:latin typeface="Source Sans 3" pitchFamily="34" charset="0"/>
                <a:ea typeface="Source Sans 3" pitchFamily="34" charset="-122"/>
                <a:cs typeface="Source Sans 3" pitchFamily="34" charset="-120"/>
              </a:rPr>
              <a:t>Các slide bài giảng môn </a:t>
            </a:r>
            <a:r>
              <a:rPr lang="en-US" sz="1700" b="1" dirty="0">
                <a:solidFill>
                  <a:srgbClr val="2B4150"/>
                </a:solidFill>
                <a:latin typeface="Source Sans 3" pitchFamily="34" charset="0"/>
                <a:ea typeface="Source Sans 3" pitchFamily="34" charset="-122"/>
                <a:cs typeface="Source Sans 3" pitchFamily="34" charset="-120"/>
              </a:rPr>
              <a:t>Hệ thống và Công nghệ Web</a:t>
            </a:r>
            <a:r>
              <a:rPr lang="en-US" sz="1700" dirty="0">
                <a:solidFill>
                  <a:srgbClr val="2B4150"/>
                </a:solidFill>
                <a:latin typeface="Source Sans 3" pitchFamily="34" charset="0"/>
                <a:ea typeface="Source Sans 3" pitchFamily="34" charset="-122"/>
                <a:cs typeface="Source Sans 3" pitchFamily="34" charset="-120"/>
              </a:rPr>
              <a:t> — tài liệu nền tảng cho toàn bộ quá trình xây dựng đề tài.</a:t>
            </a:r>
            <a:endParaRPr lang="en-US" sz="1700" dirty="0"/>
          </a:p>
        </p:txBody>
      </p:sp>
      <p:sp>
        <p:nvSpPr>
          <p:cNvPr id="7" name="Shape 5"/>
          <p:cNvSpPr/>
          <p:nvPr/>
        </p:nvSpPr>
        <p:spPr>
          <a:xfrm>
            <a:off x="7414379" y="3017282"/>
            <a:ext cx="6422231" cy="1506736"/>
          </a:xfrm>
          <a:prstGeom prst="roundRect">
            <a:avLst>
              <a:gd name="adj" fmla="val 7282"/>
            </a:avLst>
          </a:prstGeom>
          <a:solidFill>
            <a:srgbClr val="FFFCF5"/>
          </a:solidFill>
          <a:ln w="22860">
            <a:solidFill>
              <a:srgbClr val="D9D4C9"/>
            </a:solidFill>
            <a:prstDash val="solid"/>
          </a:ln>
        </p:spPr>
        <p:txBody>
          <a:bodyPr/>
          <a:lstStyle/>
          <a:p>
            <a:endParaRPr lang="en-US"/>
          </a:p>
        </p:txBody>
      </p:sp>
      <p:sp>
        <p:nvSpPr>
          <p:cNvPr id="8" name="Shape 6"/>
          <p:cNvSpPr/>
          <p:nvPr/>
        </p:nvSpPr>
        <p:spPr>
          <a:xfrm>
            <a:off x="7391519" y="3017282"/>
            <a:ext cx="91440" cy="1506736"/>
          </a:xfrm>
          <a:prstGeom prst="roundRect">
            <a:avLst>
              <a:gd name="adj" fmla="val 32558"/>
            </a:avLst>
          </a:prstGeom>
          <a:solidFill>
            <a:srgbClr val="325F7B"/>
          </a:solidFill>
          <a:ln/>
        </p:spPr>
        <p:txBody>
          <a:bodyPr/>
          <a:lstStyle/>
          <a:p>
            <a:endParaRPr lang="en-US"/>
          </a:p>
        </p:txBody>
      </p:sp>
      <p:sp>
        <p:nvSpPr>
          <p:cNvPr id="9" name="Text 7"/>
          <p:cNvSpPr/>
          <p:nvPr/>
        </p:nvSpPr>
        <p:spPr>
          <a:xfrm>
            <a:off x="7704177" y="3238500"/>
            <a:ext cx="2480905" cy="310158"/>
          </a:xfrm>
          <a:prstGeom prst="rect">
            <a:avLst/>
          </a:prstGeom>
          <a:noFill/>
          <a:ln/>
        </p:spPr>
        <p:txBody>
          <a:bodyPr wrap="none" lIns="0" tIns="0" rIns="0" bIns="0" rtlCol="0" anchor="t"/>
          <a:lstStyle/>
          <a:p>
            <a:pPr marL="0" indent="0" algn="l">
              <a:lnSpc>
                <a:spcPts val="2400"/>
              </a:lnSpc>
              <a:buNone/>
            </a:pPr>
            <a:r>
              <a:rPr lang="en-US" sz="2100" b="1" dirty="0">
                <a:solidFill>
                  <a:srgbClr val="2B4150"/>
                </a:solidFill>
                <a:latin typeface="MuseoModerno Medium" pitchFamily="34" charset="0"/>
                <a:ea typeface="MuseoModerno Medium" pitchFamily="34" charset="-122"/>
                <a:cs typeface="MuseoModerno Medium" pitchFamily="34" charset="-120"/>
              </a:rPr>
              <a:t>W3Schools</a:t>
            </a:r>
            <a:endParaRPr lang="en-US" sz="2100" b="1" dirty="0"/>
          </a:p>
        </p:txBody>
      </p:sp>
      <p:sp>
        <p:nvSpPr>
          <p:cNvPr id="10" name="Text 8"/>
          <p:cNvSpPr/>
          <p:nvPr/>
        </p:nvSpPr>
        <p:spPr>
          <a:xfrm>
            <a:off x="7704177" y="3667720"/>
            <a:ext cx="5911215" cy="635079"/>
          </a:xfrm>
          <a:prstGeom prst="rect">
            <a:avLst/>
          </a:prstGeom>
          <a:noFill/>
          <a:ln/>
        </p:spPr>
        <p:txBody>
          <a:bodyPr wrap="square" lIns="0" tIns="0" rIns="0" bIns="0" rtlCol="0" anchor="t"/>
          <a:lstStyle/>
          <a:p>
            <a:pPr marL="0" indent="0" algn="l">
              <a:lnSpc>
                <a:spcPts val="2500"/>
              </a:lnSpc>
              <a:buNone/>
            </a:pPr>
            <a:r>
              <a:rPr lang="en-US" sz="1700" dirty="0">
                <a:solidFill>
                  <a:srgbClr val="2B4150"/>
                </a:solidFill>
                <a:latin typeface="Source Sans 3" pitchFamily="34" charset="0"/>
                <a:ea typeface="Source Sans 3" pitchFamily="34" charset="-122"/>
                <a:cs typeface="Source Sans 3" pitchFamily="34" charset="-120"/>
              </a:rPr>
              <a:t>Tài liệu tham khảo HTML, CSS, JavaScript toàn diện. </a:t>
            </a:r>
            <a:r>
              <a:rPr lang="en-US" sz="1700" u="sng" dirty="0">
                <a:solidFill>
                  <a:srgbClr val="325F7B"/>
                </a:solidFill>
                <a:latin typeface="Source Sans 3" pitchFamily="34" charset="0"/>
                <a:ea typeface="Source Sans 3" pitchFamily="34" charset="-122"/>
                <a:cs typeface="Source Sans 3" pitchFamily="34" charset="-120"/>
                <a:hlinkClick r:id="rId3">
                  <a:extLst>
                    <a:ext uri="{A12FA001-AC4F-418D-AE19-62706E023703}">
                      <ahyp:hlinkClr xmlns:ahyp="http://schemas.microsoft.com/office/drawing/2018/hyperlinkcolor" val="tx"/>
                    </a:ext>
                  </a:extLst>
                </a:hlinkClick>
              </a:rPr>
              <a:t>https://www.w3schools.com/</a:t>
            </a:r>
            <a:endParaRPr lang="en-US" sz="1700" dirty="0"/>
          </a:p>
        </p:txBody>
      </p:sp>
      <p:sp>
        <p:nvSpPr>
          <p:cNvPr id="11" name="Shape 9"/>
          <p:cNvSpPr/>
          <p:nvPr/>
        </p:nvSpPr>
        <p:spPr>
          <a:xfrm>
            <a:off x="793790" y="4722376"/>
            <a:ext cx="6422231" cy="1506736"/>
          </a:xfrm>
          <a:prstGeom prst="roundRect">
            <a:avLst>
              <a:gd name="adj" fmla="val 7282"/>
            </a:avLst>
          </a:prstGeom>
          <a:solidFill>
            <a:srgbClr val="FFFCF5"/>
          </a:solidFill>
          <a:ln w="22860">
            <a:solidFill>
              <a:srgbClr val="D9D4C9"/>
            </a:solidFill>
            <a:prstDash val="solid"/>
          </a:ln>
        </p:spPr>
        <p:txBody>
          <a:bodyPr/>
          <a:lstStyle/>
          <a:p>
            <a:endParaRPr lang="en-US"/>
          </a:p>
        </p:txBody>
      </p:sp>
      <p:sp>
        <p:nvSpPr>
          <p:cNvPr id="12" name="Shape 10"/>
          <p:cNvSpPr/>
          <p:nvPr/>
        </p:nvSpPr>
        <p:spPr>
          <a:xfrm>
            <a:off x="770930" y="4722376"/>
            <a:ext cx="91440" cy="1506736"/>
          </a:xfrm>
          <a:prstGeom prst="roundRect">
            <a:avLst>
              <a:gd name="adj" fmla="val 32558"/>
            </a:avLst>
          </a:prstGeom>
          <a:solidFill>
            <a:srgbClr val="325F7B"/>
          </a:solidFill>
          <a:ln/>
        </p:spPr>
        <p:txBody>
          <a:bodyPr/>
          <a:lstStyle/>
          <a:p>
            <a:endParaRPr lang="en-US"/>
          </a:p>
        </p:txBody>
      </p:sp>
      <p:sp>
        <p:nvSpPr>
          <p:cNvPr id="13" name="Text 11"/>
          <p:cNvSpPr/>
          <p:nvPr/>
        </p:nvSpPr>
        <p:spPr>
          <a:xfrm>
            <a:off x="1083588" y="4943594"/>
            <a:ext cx="4270177" cy="310158"/>
          </a:xfrm>
          <a:prstGeom prst="rect">
            <a:avLst/>
          </a:prstGeom>
          <a:noFill/>
          <a:ln/>
        </p:spPr>
        <p:txBody>
          <a:bodyPr wrap="none" lIns="0" tIns="0" rIns="0" bIns="0" rtlCol="0" anchor="t"/>
          <a:lstStyle/>
          <a:p>
            <a:pPr marL="0" indent="0" algn="l">
              <a:lnSpc>
                <a:spcPts val="2400"/>
              </a:lnSpc>
              <a:buNone/>
            </a:pPr>
            <a:r>
              <a:rPr lang="en-US" sz="2100" b="1" dirty="0">
                <a:solidFill>
                  <a:srgbClr val="2B4150"/>
                </a:solidFill>
                <a:latin typeface="MuseoModerno Medium" pitchFamily="34" charset="0"/>
                <a:ea typeface="MuseoModerno Medium" pitchFamily="34" charset="-122"/>
                <a:cs typeface="MuseoModerno Medium" pitchFamily="34" charset="-120"/>
              </a:rPr>
              <a:t>Vietnam Post — Phát Hành Báo Chí</a:t>
            </a:r>
            <a:endParaRPr lang="en-US" sz="2100" b="1" dirty="0"/>
          </a:p>
        </p:txBody>
      </p:sp>
      <p:sp>
        <p:nvSpPr>
          <p:cNvPr id="14" name="Text 12"/>
          <p:cNvSpPr/>
          <p:nvPr/>
        </p:nvSpPr>
        <p:spPr>
          <a:xfrm>
            <a:off x="1083588" y="5372814"/>
            <a:ext cx="5911215" cy="635079"/>
          </a:xfrm>
          <a:prstGeom prst="rect">
            <a:avLst/>
          </a:prstGeom>
          <a:noFill/>
          <a:ln/>
        </p:spPr>
        <p:txBody>
          <a:bodyPr wrap="square" lIns="0" tIns="0" rIns="0" bIns="0" rtlCol="0" anchor="t"/>
          <a:lstStyle/>
          <a:p>
            <a:pPr marL="0" indent="0" algn="l">
              <a:lnSpc>
                <a:spcPts val="2500"/>
              </a:lnSpc>
              <a:buNone/>
            </a:pPr>
            <a:r>
              <a:rPr lang="en-US" sz="1700" dirty="0">
                <a:solidFill>
                  <a:srgbClr val="2B4150"/>
                </a:solidFill>
                <a:latin typeface="Source Sans 3" pitchFamily="34" charset="0"/>
                <a:ea typeface="Source Sans 3" pitchFamily="34" charset="-122"/>
                <a:cs typeface="Source Sans 3" pitchFamily="34" charset="-120"/>
              </a:rPr>
              <a:t>Thông tin thực tế về hệ thống phát hành báo chí tại Việt Nam. </a:t>
            </a:r>
            <a:r>
              <a:rPr lang="en-US" sz="1700" u="sng" dirty="0">
                <a:solidFill>
                  <a:srgbClr val="325F7B"/>
                </a:solidFill>
                <a:latin typeface="Source Sans 3" pitchFamily="34" charset="0"/>
                <a:ea typeface="Source Sans 3" pitchFamily="34" charset="-122"/>
                <a:cs typeface="Source Sans 3" pitchFamily="34" charset="-120"/>
                <a:hlinkClick r:id="rId4">
                  <a:extLst>
                    <a:ext uri="{A12FA001-AC4F-418D-AE19-62706E023703}">
                      <ahyp:hlinkClr xmlns:ahyp="http://schemas.microsoft.com/office/drawing/2018/hyperlinkcolor" val="tx"/>
                    </a:ext>
                  </a:extLst>
                </a:hlinkClick>
              </a:rPr>
              <a:t>https://phaha.vn/phat-hanh-bao-chi</a:t>
            </a:r>
            <a:endParaRPr lang="en-US" sz="1700" dirty="0"/>
          </a:p>
        </p:txBody>
      </p:sp>
      <p:sp>
        <p:nvSpPr>
          <p:cNvPr id="15" name="Shape 13"/>
          <p:cNvSpPr/>
          <p:nvPr/>
        </p:nvSpPr>
        <p:spPr>
          <a:xfrm>
            <a:off x="7414379" y="4722376"/>
            <a:ext cx="6422231" cy="1506736"/>
          </a:xfrm>
          <a:prstGeom prst="roundRect">
            <a:avLst>
              <a:gd name="adj" fmla="val 7282"/>
            </a:avLst>
          </a:prstGeom>
          <a:solidFill>
            <a:srgbClr val="FFFCF5"/>
          </a:solidFill>
          <a:ln w="22860">
            <a:solidFill>
              <a:srgbClr val="D9D4C9"/>
            </a:solidFill>
            <a:prstDash val="solid"/>
          </a:ln>
        </p:spPr>
        <p:txBody>
          <a:bodyPr/>
          <a:lstStyle/>
          <a:p>
            <a:endParaRPr lang="en-US"/>
          </a:p>
        </p:txBody>
      </p:sp>
      <p:sp>
        <p:nvSpPr>
          <p:cNvPr id="16" name="Shape 14"/>
          <p:cNvSpPr/>
          <p:nvPr/>
        </p:nvSpPr>
        <p:spPr>
          <a:xfrm>
            <a:off x="7391519" y="4722376"/>
            <a:ext cx="91440" cy="1506736"/>
          </a:xfrm>
          <a:prstGeom prst="roundRect">
            <a:avLst>
              <a:gd name="adj" fmla="val 32558"/>
            </a:avLst>
          </a:prstGeom>
          <a:solidFill>
            <a:srgbClr val="325F7B"/>
          </a:solidFill>
          <a:ln/>
        </p:spPr>
        <p:txBody>
          <a:bodyPr/>
          <a:lstStyle/>
          <a:p>
            <a:endParaRPr lang="en-US"/>
          </a:p>
        </p:txBody>
      </p:sp>
      <p:sp>
        <p:nvSpPr>
          <p:cNvPr id="17" name="Text 15"/>
          <p:cNvSpPr/>
          <p:nvPr/>
        </p:nvSpPr>
        <p:spPr>
          <a:xfrm>
            <a:off x="7704177" y="4943594"/>
            <a:ext cx="2480905" cy="310158"/>
          </a:xfrm>
          <a:prstGeom prst="rect">
            <a:avLst/>
          </a:prstGeom>
          <a:noFill/>
          <a:ln/>
        </p:spPr>
        <p:txBody>
          <a:bodyPr wrap="none" lIns="0" tIns="0" rIns="0" bIns="0" rtlCol="0" anchor="t"/>
          <a:lstStyle/>
          <a:p>
            <a:pPr marL="0" indent="0" algn="l">
              <a:lnSpc>
                <a:spcPts val="2400"/>
              </a:lnSpc>
              <a:buNone/>
            </a:pPr>
            <a:r>
              <a:rPr lang="en-US" sz="2100" b="1" dirty="0">
                <a:solidFill>
                  <a:srgbClr val="2B4150"/>
                </a:solidFill>
                <a:latin typeface="MuseoModerno Medium" pitchFamily="34" charset="0"/>
                <a:ea typeface="MuseoModerno Medium" pitchFamily="34" charset="-122"/>
                <a:cs typeface="MuseoModerno Medium" pitchFamily="34" charset="-120"/>
              </a:rPr>
              <a:t>Bootstrap</a:t>
            </a:r>
            <a:endParaRPr lang="en-US" sz="2100" b="1" dirty="0"/>
          </a:p>
        </p:txBody>
      </p:sp>
      <p:sp>
        <p:nvSpPr>
          <p:cNvPr id="18" name="Text 16"/>
          <p:cNvSpPr/>
          <p:nvPr/>
        </p:nvSpPr>
        <p:spPr>
          <a:xfrm>
            <a:off x="7704177" y="5372814"/>
            <a:ext cx="5911215" cy="635079"/>
          </a:xfrm>
          <a:prstGeom prst="rect">
            <a:avLst/>
          </a:prstGeom>
          <a:noFill/>
          <a:ln/>
        </p:spPr>
        <p:txBody>
          <a:bodyPr wrap="square" lIns="0" tIns="0" rIns="0" bIns="0" rtlCol="0" anchor="t"/>
          <a:lstStyle/>
          <a:p>
            <a:pPr marL="0" indent="0" algn="l">
              <a:lnSpc>
                <a:spcPts val="2500"/>
              </a:lnSpc>
              <a:buNone/>
            </a:pPr>
            <a:r>
              <a:rPr lang="en-US" sz="1700" dirty="0">
                <a:solidFill>
                  <a:srgbClr val="2B4150"/>
                </a:solidFill>
                <a:latin typeface="Source Sans 3" pitchFamily="34" charset="0"/>
                <a:ea typeface="Source Sans 3" pitchFamily="34" charset="-122"/>
                <a:cs typeface="Source Sans 3" pitchFamily="34" charset="-120"/>
              </a:rPr>
              <a:t>Framework CSS chính được sử dụng trong dự án (phiên bản 5.3.5). </a:t>
            </a:r>
            <a:r>
              <a:rPr lang="en-US" sz="1700" u="sng" dirty="0">
                <a:solidFill>
                  <a:srgbClr val="325F7B"/>
                </a:solidFill>
                <a:latin typeface="Source Sans 3" pitchFamily="34" charset="0"/>
                <a:ea typeface="Source Sans 3" pitchFamily="34" charset="-122"/>
                <a:cs typeface="Source Sans 3" pitchFamily="34" charset="-120"/>
                <a:hlinkClick r:id="rId5">
                  <a:extLst>
                    <a:ext uri="{A12FA001-AC4F-418D-AE19-62706E023703}">
                      <ahyp:hlinkClr xmlns:ahyp="http://schemas.microsoft.com/office/drawing/2018/hyperlinkcolor" val="tx"/>
                    </a:ext>
                  </a:extLst>
                </a:hlinkClick>
              </a:rPr>
              <a:t>https://getbootstrap.com/</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1230</Words>
  <Application>Microsoft Office PowerPoint</Application>
  <PresentationFormat>Custom</PresentationFormat>
  <Paragraphs>115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Source Sans 3</vt:lpstr>
      <vt:lpstr>MuseoModerno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Khou</dc:creator>
  <cp:lastModifiedBy>Anh Khôi Hoàng</cp:lastModifiedBy>
  <cp:revision>3</cp:revision>
  <dcterms:created xsi:type="dcterms:W3CDTF">2026-04-08T02:34:30Z</dcterms:created>
  <dcterms:modified xsi:type="dcterms:W3CDTF">2026-04-08T02:46:26Z</dcterms:modified>
</cp:coreProperties>
</file>